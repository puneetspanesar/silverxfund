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65" r:id="rId5"/>
    <p:sldId id="266" r:id="rId6"/>
    <p:sldId id="268" r:id="rId7"/>
    <p:sldId id="267" r:id="rId8"/>
    <p:sldId id="270" r:id="rId9"/>
    <p:sldId id="269" r:id="rId10"/>
    <p:sldId id="260" r:id="rId11"/>
    <p:sldId id="262" r:id="rId12"/>
  </p:sldIdLst>
  <p:sldSz cx="18288000" cy="10287000"/>
  <p:notesSz cx="6858000" cy="9144000"/>
  <p:embeddedFontLst>
    <p:embeddedFont>
      <p:font typeface="Playfair Display" panose="00000500000000000000" pitchFamily="2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Resilient%20sectors%20grap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Resilient%20sectors%20grap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Resilient%20sectors%20grap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Resilient%20sectors%20grap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8D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8D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Sheet1!$H$6:$H$14</c:f>
              <c:numCache>
                <c:formatCode>General</c:formatCode>
                <c:ptCount val="9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</c:numCache>
            </c:numRef>
          </c:cat>
          <c:val>
            <c:numRef>
              <c:f>Sheet1!$I$6:$I$14</c:f>
              <c:numCache>
                <c:formatCode>0</c:formatCode>
                <c:ptCount val="9"/>
                <c:pt idx="0">
                  <c:v>99.688999999999993</c:v>
                </c:pt>
                <c:pt idx="1">
                  <c:v>111.053546</c:v>
                </c:pt>
                <c:pt idx="2">
                  <c:v>123.71365024400001</c:v>
                </c:pt>
                <c:pt idx="3">
                  <c:v>137.81700637181601</c:v>
                </c:pt>
                <c:pt idx="4">
                  <c:v>153.52814509820305</c:v>
                </c:pt>
                <c:pt idx="5">
                  <c:v>171.03035363939821</c:v>
                </c:pt>
                <c:pt idx="6">
                  <c:v>190.52781395428963</c:v>
                </c:pt>
                <c:pt idx="7">
                  <c:v>212.24798474507867</c:v>
                </c:pt>
                <c:pt idx="8">
                  <c:v>236.44425500601767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DF-4433-B745-814D449C86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-54"/>
        <c:axId val="456125632"/>
        <c:axId val="456125992"/>
      </c:barChart>
      <c:catAx>
        <c:axId val="456125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rgbClr val="8D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6125992"/>
        <c:crosses val="autoZero"/>
        <c:auto val="1"/>
        <c:lblAlgn val="ctr"/>
        <c:lblOffset val="100"/>
        <c:noMultiLvlLbl val="0"/>
      </c:catAx>
      <c:valAx>
        <c:axId val="456125992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45612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Sheet1!$F$28</c:f>
              <c:strCache>
                <c:ptCount val="1"/>
                <c:pt idx="0">
                  <c:v>Column B: AI Penetration Rate (%) (Value)</c:v>
                </c:pt>
              </c:strCache>
            </c:strRef>
          </c:tx>
          <c:spPr>
            <a:ln>
              <a:solidFill>
                <a:schemeClr val="bg1">
                  <a:lumMod val="50000"/>
                </a:schemeClr>
              </a:solidFill>
            </a:ln>
          </c:spPr>
          <c:dPt>
            <c:idx val="0"/>
            <c:bubble3D val="0"/>
            <c:spPr>
              <a:solidFill>
                <a:srgbClr val="8D0000"/>
              </a:solidFill>
              <a:ln w="19050">
                <a:solidFill>
                  <a:srgbClr val="8D000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B84-42DB-9DD2-599552B5D9ED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B84-42DB-9DD2-599552B5D9ED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B84-42DB-9DD2-599552B5D9ED}"/>
              </c:ext>
            </c:extLst>
          </c:dPt>
          <c:dPt>
            <c:idx val="3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B84-42DB-9DD2-599552B5D9E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3F88A67-3CD9-491D-88EB-33F8B16395EB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115D1D19-63C0-40ED-8239-E4E6D006336A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B84-42DB-9DD2-599552B5D9ED}"/>
                </c:ext>
              </c:extLst>
            </c:dLbl>
            <c:dLbl>
              <c:idx val="1"/>
              <c:layout>
                <c:manualLayout>
                  <c:x val="7.9150926425616122E-2"/>
                  <c:y val="-8.7857442671421069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8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AA31C0F-A5B1-4428-880E-1139C7875E68}" type="CATEGORYNAME">
                      <a:rPr lang="en-US" b="1"/>
                      <a:pPr>
                        <a:defRPr sz="1800" b="1"/>
                      </a:pPr>
                      <a:t>[CATEGORY NAME]</a:t>
                    </a:fld>
                    <a:r>
                      <a:rPr lang="en-US" b="1" baseline="0"/>
                      <a:t>: </a:t>
                    </a:r>
                    <a:fld id="{6035D0AB-C400-4A27-B2C5-3ED9F8A94953}" type="VALUE">
                      <a:rPr lang="en-US" b="1" baseline="0"/>
                      <a:pPr>
                        <a:defRPr sz="1800" b="1"/>
                      </a:pPr>
                      <a:t>[VALUE]</a:t>
                    </a:fld>
                    <a:r>
                      <a:rPr lang="en-US" b="1" baseline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48428681304205567"/>
                      <c:h val="8.549551888215993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B84-42DB-9DD2-599552B5D9E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C81BAB4-6841-4F5B-A374-0398D5AA8F44}" type="CATEGORYNAME">
                      <a:rPr lang="en-US"/>
                      <a:pPr/>
                      <a:t>[CATEGORY NAME]</a:t>
                    </a:fld>
                    <a:r>
                      <a:rPr lang="en-US" baseline="0"/>
                      <a:t>: </a:t>
                    </a:r>
                    <a:fld id="{37F8F6BF-47B8-4189-AB09-EF8B53CD54C3}" type="VALUE">
                      <a:rPr lang="en-US" baseline="0"/>
                      <a:pPr/>
                      <a:t>[VALUE]</a:t>
                    </a:fld>
                    <a:r>
                      <a:rPr lang="en-US" baseline="0"/>
                      <a:t>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B84-42DB-9DD2-599552B5D9ED}"/>
                </c:ext>
              </c:extLst>
            </c:dLbl>
            <c:dLbl>
              <c:idx val="3"/>
              <c:layout>
                <c:manualLayout>
                  <c:x val="6.4759848893685912E-2"/>
                  <c:y val="1.0982072242665402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8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859F5B6-4B38-46A6-922F-BAF4BA737CA5}" type="CATEGORYNAME">
                      <a:rPr lang="en-US" b="1"/>
                      <a:pPr>
                        <a:defRPr sz="1800" b="1"/>
                      </a:pPr>
                      <a:t>[CATEGORY NAME]</a:t>
                    </a:fld>
                    <a:r>
                      <a:rPr lang="en-US" b="1"/>
                      <a:t>:</a:t>
                    </a:r>
                    <a:r>
                      <a:rPr lang="en-US" b="1" baseline="0"/>
                      <a:t> </a:t>
                    </a:r>
                    <a:fld id="{13798059-1A1A-423B-B0F1-0FCA3B86C148}" type="VALUE">
                      <a:rPr lang="en-US" b="1" baseline="0"/>
                      <a:pPr>
                        <a:defRPr sz="1800" b="1"/>
                      </a:pPr>
                      <a:t>[VALUE]</a:t>
                    </a:fld>
                    <a:r>
                      <a:rPr lang="en-US" b="1" baseline="0"/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58164415227913024"/>
                      <c:h val="9.116053869917960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B84-42DB-9DD2-599552B5D9E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Sheet1!$E$29:$E$32</c:f>
              <c:strCache>
                <c:ptCount val="4"/>
                <c:pt idx="0">
                  <c:v>Film &amp; Animation</c:v>
                </c:pt>
                <c:pt idx="1">
                  <c:v>Music Production</c:v>
                </c:pt>
                <c:pt idx="2">
                  <c:v>Publishing &amp; Design</c:v>
                </c:pt>
                <c:pt idx="3">
                  <c:v>Live Performance, Fine Arts, Events</c:v>
                </c:pt>
              </c:strCache>
            </c:strRef>
          </c:cat>
          <c:val>
            <c:numRef>
              <c:f>Sheet1!$F$29:$F$32</c:f>
              <c:numCache>
                <c:formatCode>General</c:formatCode>
                <c:ptCount val="4"/>
                <c:pt idx="0">
                  <c:v>30</c:v>
                </c:pt>
                <c:pt idx="1">
                  <c:v>20</c:v>
                </c:pt>
                <c:pt idx="2">
                  <c:v>27.5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84-42DB-9DD2-599552B5D9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Sheet1!$H$38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8D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Sheet1!$G$39:$G$43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Sheet1!$H$39:$H$43</c:f>
              <c:numCache>
                <c:formatCode>0.0</c:formatCode>
                <c:ptCount val="5"/>
                <c:pt idx="0">
                  <c:v>3.0265859996920872</c:v>
                </c:pt>
                <c:pt idx="1">
                  <c:v>3.1385696816806945</c:v>
                </c:pt>
                <c:pt idx="2">
                  <c:v>3.2546967599028802</c:v>
                </c:pt>
                <c:pt idx="3">
                  <c:v>3.3751205400192865</c:v>
                </c:pt>
                <c:pt idx="4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47-43BF-B27B-38E9115C9B6D}"/>
            </c:ext>
          </c:extLst>
        </c:ser>
        <c:ser>
          <c:idx val="1"/>
          <c:order val="1"/>
          <c:tx>
            <c:strRef>
              <c:f>Sheet1!$I$38</c:f>
              <c:strCache>
                <c:ptCount val="1"/>
                <c:pt idx="0">
                  <c:v>AI 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Sheet1!$G$39:$G$43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Sheet1!$I$39:$I$43</c:f>
              <c:numCache>
                <c:formatCode>0.0</c:formatCode>
                <c:ptCount val="5"/>
                <c:pt idx="0">
                  <c:v>0.78691235991994257</c:v>
                </c:pt>
                <c:pt idx="1">
                  <c:v>0.81602811723698054</c:v>
                </c:pt>
                <c:pt idx="2">
                  <c:v>0.84622115757474892</c:v>
                </c:pt>
                <c:pt idx="3">
                  <c:v>0.87753134040501446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47-43BF-B27B-38E9115C9B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91143976"/>
        <c:axId val="491146496"/>
      </c:barChart>
      <c:catAx>
        <c:axId val="491143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146496"/>
        <c:crosses val="autoZero"/>
        <c:auto val="1"/>
        <c:lblAlgn val="ctr"/>
        <c:lblOffset val="100"/>
        <c:noMultiLvlLbl val="0"/>
      </c:catAx>
      <c:valAx>
        <c:axId val="49114649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491143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Sheet1!$P$50</c:f>
              <c:strCache>
                <c:ptCount val="1"/>
                <c:pt idx="0">
                  <c:v>Column B: AI Penetration Rate (%) (Value)</c:v>
                </c:pt>
              </c:strCache>
            </c:strRef>
          </c:tx>
          <c:spPr>
            <a:solidFill>
              <a:srgbClr val="8D0000"/>
            </a:solidFill>
            <a:ln>
              <a:solidFill>
                <a:srgbClr val="8D000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Sheet1!$O$51:$O$55</c:f>
              <c:strCache>
                <c:ptCount val="5"/>
                <c:pt idx="0">
                  <c:v>Clinical Care (Workflows)</c:v>
                </c:pt>
                <c:pt idx="1">
                  <c:v>Pharmacy Services (Automation)</c:v>
                </c:pt>
                <c:pt idx="2">
                  <c:v>Life Sciences &amp; Research (Projects)</c:v>
                </c:pt>
                <c:pt idx="3">
                  <c:v>Healthcare Supply Chain &amp; Logistics (Automation)</c:v>
                </c:pt>
                <c:pt idx="4">
                  <c:v>Outpatient &amp; Ambulatory Care (Visits)</c:v>
                </c:pt>
              </c:strCache>
            </c:strRef>
          </c:cat>
          <c:val>
            <c:numRef>
              <c:f>Sheet1!$P$51:$P$55</c:f>
              <c:numCache>
                <c:formatCode>General</c:formatCode>
                <c:ptCount val="5"/>
                <c:pt idx="0">
                  <c:v>25</c:v>
                </c:pt>
                <c:pt idx="1">
                  <c:v>21</c:v>
                </c:pt>
                <c:pt idx="2">
                  <c:v>14</c:v>
                </c:pt>
                <c:pt idx="3">
                  <c:v>25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DF-4872-AB31-6C2D9F3309C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82420392"/>
        <c:axId val="382413192"/>
      </c:barChart>
      <c:catAx>
        <c:axId val="382420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2413192"/>
        <c:crosses val="autoZero"/>
        <c:auto val="1"/>
        <c:lblAlgn val="ctr"/>
        <c:lblOffset val="100"/>
        <c:noMultiLvlLbl val="0"/>
      </c:catAx>
      <c:valAx>
        <c:axId val="3824131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82420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013D4C-C298-4C5D-9007-6D467D94FD0B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</dgm:pt>
    <dgm:pt modelId="{B9DCC985-EA3E-435D-9CD2-D7B3C05C4FDB}">
      <dgm:prSet phldrT="[Text]" custT="1"/>
      <dgm:spPr>
        <a:solidFill>
          <a:srgbClr val="8D0000"/>
        </a:solidFill>
        <a:ln>
          <a:solidFill>
            <a:srgbClr val="8D0000"/>
          </a:solidFill>
        </a:ln>
      </dgm:spPr>
      <dgm:t>
        <a:bodyPr/>
        <a:lstStyle/>
        <a:p>
          <a:r>
            <a:rPr lang="en-US" sz="2400" b="1" dirty="0"/>
            <a:t>Sector </a:t>
          </a:r>
          <a:br>
            <a:rPr lang="en-US" sz="2400" b="1" dirty="0"/>
          </a:br>
          <a:r>
            <a:rPr lang="en-US" sz="2400" b="1" dirty="0"/>
            <a:t>Overview</a:t>
          </a:r>
          <a:endParaRPr lang="en-IN" sz="2400" b="1" dirty="0"/>
        </a:p>
      </dgm:t>
    </dgm:pt>
    <dgm:pt modelId="{F0EC050D-5E97-47A5-A132-D7621E1A6CFC}" type="parTrans" cxnId="{2A31B6E7-277E-4CEA-8429-6F9B8DDB524C}">
      <dgm:prSet/>
      <dgm:spPr/>
      <dgm:t>
        <a:bodyPr/>
        <a:lstStyle/>
        <a:p>
          <a:endParaRPr lang="en-IN" sz="2400" b="1"/>
        </a:p>
      </dgm:t>
    </dgm:pt>
    <dgm:pt modelId="{C62032E4-3712-4637-9D3B-DE00D7E7F596}" type="sibTrans" cxnId="{2A31B6E7-277E-4CEA-8429-6F9B8DDB524C}">
      <dgm:prSet/>
      <dgm:spPr/>
      <dgm:t>
        <a:bodyPr/>
        <a:lstStyle/>
        <a:p>
          <a:endParaRPr lang="en-IN" sz="2400" b="1"/>
        </a:p>
      </dgm:t>
    </dgm:pt>
    <dgm:pt modelId="{9A50771B-5868-4C35-9A3A-33186C834C22}">
      <dgm:prSet phldrT="[Text]" custT="1"/>
      <dgm:spPr>
        <a:solidFill>
          <a:srgbClr val="8D0000"/>
        </a:solidFill>
        <a:ln>
          <a:solidFill>
            <a:srgbClr val="8D0000"/>
          </a:solidFill>
        </a:ln>
      </dgm:spPr>
      <dgm:t>
        <a:bodyPr/>
        <a:lstStyle/>
        <a:p>
          <a:r>
            <a:rPr lang="en-US" sz="2400" b="1" dirty="0"/>
            <a:t>Subsector Overview</a:t>
          </a:r>
          <a:endParaRPr lang="en-IN" sz="2400" b="1" dirty="0"/>
        </a:p>
      </dgm:t>
    </dgm:pt>
    <dgm:pt modelId="{9C20CF38-3E66-469F-913B-B6D4C2470152}" type="parTrans" cxnId="{A78B4D43-414A-488E-B4B3-D207936915E2}">
      <dgm:prSet/>
      <dgm:spPr/>
      <dgm:t>
        <a:bodyPr/>
        <a:lstStyle/>
        <a:p>
          <a:endParaRPr lang="en-IN" sz="2400" b="1"/>
        </a:p>
      </dgm:t>
    </dgm:pt>
    <dgm:pt modelId="{CE3A237D-A206-4C89-A763-51438E157EEF}" type="sibTrans" cxnId="{A78B4D43-414A-488E-B4B3-D207936915E2}">
      <dgm:prSet/>
      <dgm:spPr/>
      <dgm:t>
        <a:bodyPr/>
        <a:lstStyle/>
        <a:p>
          <a:endParaRPr lang="en-IN" sz="2400" b="1"/>
        </a:p>
      </dgm:t>
    </dgm:pt>
    <dgm:pt modelId="{86433130-7A48-4008-B28E-63B2B04D0038}">
      <dgm:prSet phldrT="[Text]" custT="1"/>
      <dgm:spPr>
        <a:solidFill>
          <a:srgbClr val="8D0000"/>
        </a:solidFill>
        <a:ln>
          <a:solidFill>
            <a:srgbClr val="8D0000"/>
          </a:solidFill>
        </a:ln>
      </dgm:spPr>
      <dgm:t>
        <a:bodyPr/>
        <a:lstStyle/>
        <a:p>
          <a:r>
            <a:rPr lang="en-US" sz="2400" b="1" dirty="0"/>
            <a:t>Subsector Overview</a:t>
          </a:r>
          <a:endParaRPr lang="en-IN" sz="2400" b="1" dirty="0"/>
        </a:p>
      </dgm:t>
    </dgm:pt>
    <dgm:pt modelId="{29888329-4C17-4A89-B923-C24D776EC303}" type="parTrans" cxnId="{63CF7938-5C6C-436D-948D-CEAC3941A69E}">
      <dgm:prSet/>
      <dgm:spPr/>
      <dgm:t>
        <a:bodyPr/>
        <a:lstStyle/>
        <a:p>
          <a:endParaRPr lang="en-IN" sz="2400" b="1"/>
        </a:p>
      </dgm:t>
    </dgm:pt>
    <dgm:pt modelId="{778CA588-8EFA-497D-8661-DEAF89D18310}" type="sibTrans" cxnId="{63CF7938-5C6C-436D-948D-CEAC3941A69E}">
      <dgm:prSet/>
      <dgm:spPr/>
      <dgm:t>
        <a:bodyPr/>
        <a:lstStyle/>
        <a:p>
          <a:endParaRPr lang="en-IN" sz="2400" b="1"/>
        </a:p>
      </dgm:t>
    </dgm:pt>
    <dgm:pt modelId="{1ACCF728-311F-4460-8516-B5AFDE8C21F9}">
      <dgm:prSet phldrT="[Text]" custT="1"/>
      <dgm:spPr>
        <a:solidFill>
          <a:srgbClr val="8D0000"/>
        </a:solidFill>
        <a:ln>
          <a:solidFill>
            <a:srgbClr val="8D0000"/>
          </a:solidFill>
        </a:ln>
      </dgm:spPr>
      <dgm:t>
        <a:bodyPr/>
        <a:lstStyle/>
        <a:p>
          <a:r>
            <a:rPr lang="en-US" sz="2400" b="1" dirty="0"/>
            <a:t>Barriers to Penetration </a:t>
          </a:r>
          <a:endParaRPr lang="en-IN" sz="2400" b="1" dirty="0"/>
        </a:p>
      </dgm:t>
    </dgm:pt>
    <dgm:pt modelId="{0F07D1C3-5059-4D77-B5DB-06B51E9A6EB4}" type="parTrans" cxnId="{1E5DD013-AF9B-4FB6-BF7B-62A4E5FE5489}">
      <dgm:prSet/>
      <dgm:spPr/>
      <dgm:t>
        <a:bodyPr/>
        <a:lstStyle/>
        <a:p>
          <a:endParaRPr lang="en-IN" sz="2400" b="1"/>
        </a:p>
      </dgm:t>
    </dgm:pt>
    <dgm:pt modelId="{6E97861A-783B-4524-B79B-5F6A9BD93E0A}" type="sibTrans" cxnId="{1E5DD013-AF9B-4FB6-BF7B-62A4E5FE5489}">
      <dgm:prSet/>
      <dgm:spPr/>
      <dgm:t>
        <a:bodyPr/>
        <a:lstStyle/>
        <a:p>
          <a:endParaRPr lang="en-IN" sz="2400" b="1"/>
        </a:p>
      </dgm:t>
    </dgm:pt>
    <dgm:pt modelId="{66D5096D-EF10-4CF6-BA9B-8FFAD026FA7D}">
      <dgm:prSet phldrT="[Text]" custT="1"/>
      <dgm:spPr>
        <a:solidFill>
          <a:srgbClr val="8D0000"/>
        </a:solidFill>
        <a:ln>
          <a:solidFill>
            <a:srgbClr val="8D0000"/>
          </a:solidFill>
        </a:ln>
      </dgm:spPr>
      <dgm:t>
        <a:bodyPr/>
        <a:lstStyle/>
        <a:p>
          <a:r>
            <a:rPr lang="en-US" sz="2400" b="1" dirty="0"/>
            <a:t>Subsector Overview</a:t>
          </a:r>
          <a:endParaRPr lang="en-IN" sz="2400" b="1" dirty="0"/>
        </a:p>
      </dgm:t>
    </dgm:pt>
    <dgm:pt modelId="{D62BEE7B-AD4F-44AA-A96A-2F4F8795B084}" type="parTrans" cxnId="{DF470E05-FF8B-4D89-8066-F67BDA9C66EF}">
      <dgm:prSet/>
      <dgm:spPr/>
      <dgm:t>
        <a:bodyPr/>
        <a:lstStyle/>
        <a:p>
          <a:endParaRPr lang="en-IN" sz="2400" b="1"/>
        </a:p>
      </dgm:t>
    </dgm:pt>
    <dgm:pt modelId="{E5753126-1193-4A2E-A500-40924A4D5FA9}" type="sibTrans" cxnId="{DF470E05-FF8B-4D89-8066-F67BDA9C66EF}">
      <dgm:prSet/>
      <dgm:spPr/>
      <dgm:t>
        <a:bodyPr/>
        <a:lstStyle/>
        <a:p>
          <a:endParaRPr lang="en-IN" sz="2400" b="1"/>
        </a:p>
      </dgm:t>
    </dgm:pt>
    <dgm:pt modelId="{FE0CE4EB-0C5B-451B-9A3D-B5FFBE6A6624}">
      <dgm:prSet phldrT="[Text]" custT="1"/>
      <dgm:spPr>
        <a:solidFill>
          <a:srgbClr val="8D0000"/>
        </a:solidFill>
        <a:ln>
          <a:solidFill>
            <a:srgbClr val="8D0000"/>
          </a:solidFill>
        </a:ln>
      </dgm:spPr>
      <dgm:t>
        <a:bodyPr/>
        <a:lstStyle/>
        <a:p>
          <a:r>
            <a:rPr lang="en-US" sz="2400" b="1" dirty="0"/>
            <a:t>Subsector Overview</a:t>
          </a:r>
          <a:endParaRPr lang="en-IN" sz="2400" b="1" dirty="0"/>
        </a:p>
      </dgm:t>
    </dgm:pt>
    <dgm:pt modelId="{666A7D1B-066F-4777-B25E-18B6DDF0101D}" type="parTrans" cxnId="{EC8849CC-4E15-4775-9193-1E614E92E905}">
      <dgm:prSet/>
      <dgm:spPr/>
      <dgm:t>
        <a:bodyPr/>
        <a:lstStyle/>
        <a:p>
          <a:endParaRPr lang="en-IN" sz="2400" b="1"/>
        </a:p>
      </dgm:t>
    </dgm:pt>
    <dgm:pt modelId="{85EA03DF-0158-4AE0-9BC8-16934EEAFAE2}" type="sibTrans" cxnId="{EC8849CC-4E15-4775-9193-1E614E92E905}">
      <dgm:prSet/>
      <dgm:spPr/>
      <dgm:t>
        <a:bodyPr/>
        <a:lstStyle/>
        <a:p>
          <a:endParaRPr lang="en-IN" sz="2400" b="1"/>
        </a:p>
      </dgm:t>
    </dgm:pt>
    <dgm:pt modelId="{1FD8FD4E-F423-4CD4-AA9E-6090B87891C9}" type="pres">
      <dgm:prSet presAssocID="{6D013D4C-C298-4C5D-9007-6D467D94FD0B}" presName="Name0" presStyleCnt="0">
        <dgm:presLayoutVars>
          <dgm:resizeHandles/>
        </dgm:presLayoutVars>
      </dgm:prSet>
      <dgm:spPr/>
    </dgm:pt>
    <dgm:pt modelId="{0CADFC52-BFC2-419C-8E85-8D3CF8BECF72}" type="pres">
      <dgm:prSet presAssocID="{B9DCC985-EA3E-435D-9CD2-D7B3C05C4FDB}" presName="text" presStyleLbl="node1" presStyleIdx="0" presStyleCnt="6" custScaleX="317500">
        <dgm:presLayoutVars>
          <dgm:bulletEnabled val="1"/>
        </dgm:presLayoutVars>
      </dgm:prSet>
      <dgm:spPr/>
    </dgm:pt>
    <dgm:pt modelId="{280E07A0-A768-44B8-B433-387C2989F88F}" type="pres">
      <dgm:prSet presAssocID="{C62032E4-3712-4637-9D3B-DE00D7E7F596}" presName="space" presStyleCnt="0"/>
      <dgm:spPr/>
    </dgm:pt>
    <dgm:pt modelId="{674D1CBB-F2AB-4EEA-843C-08622AEA8462}" type="pres">
      <dgm:prSet presAssocID="{9A50771B-5868-4C35-9A3A-33186C834C22}" presName="text" presStyleLbl="node1" presStyleIdx="1" presStyleCnt="6" custScaleX="317500">
        <dgm:presLayoutVars>
          <dgm:bulletEnabled val="1"/>
        </dgm:presLayoutVars>
      </dgm:prSet>
      <dgm:spPr/>
    </dgm:pt>
    <dgm:pt modelId="{B5F56FB2-3B54-4BD2-9FE3-48B3E4A70A4F}" type="pres">
      <dgm:prSet presAssocID="{CE3A237D-A206-4C89-A763-51438E157EEF}" presName="space" presStyleCnt="0"/>
      <dgm:spPr/>
    </dgm:pt>
    <dgm:pt modelId="{4D775EC6-3B57-4387-A5B2-76FC4397F1DE}" type="pres">
      <dgm:prSet presAssocID="{86433130-7A48-4008-B28E-63B2B04D0038}" presName="text" presStyleLbl="node1" presStyleIdx="2" presStyleCnt="6" custScaleX="317500">
        <dgm:presLayoutVars>
          <dgm:bulletEnabled val="1"/>
        </dgm:presLayoutVars>
      </dgm:prSet>
      <dgm:spPr/>
    </dgm:pt>
    <dgm:pt modelId="{1D096541-EAAE-481D-8EDB-86C56FB13147}" type="pres">
      <dgm:prSet presAssocID="{778CA588-8EFA-497D-8661-DEAF89D18310}" presName="space" presStyleCnt="0"/>
      <dgm:spPr/>
    </dgm:pt>
    <dgm:pt modelId="{F7A88727-2CEE-47C5-9FCB-74D6F8445205}" type="pres">
      <dgm:prSet presAssocID="{66D5096D-EF10-4CF6-BA9B-8FFAD026FA7D}" presName="text" presStyleLbl="node1" presStyleIdx="3" presStyleCnt="6" custScaleX="317500">
        <dgm:presLayoutVars>
          <dgm:bulletEnabled val="1"/>
        </dgm:presLayoutVars>
      </dgm:prSet>
      <dgm:spPr/>
    </dgm:pt>
    <dgm:pt modelId="{D8123863-2705-4EDB-AC94-35EE32A93601}" type="pres">
      <dgm:prSet presAssocID="{E5753126-1193-4A2E-A500-40924A4D5FA9}" presName="space" presStyleCnt="0"/>
      <dgm:spPr/>
    </dgm:pt>
    <dgm:pt modelId="{7AE16D99-5DCB-4D5D-8D3D-97583D41E378}" type="pres">
      <dgm:prSet presAssocID="{FE0CE4EB-0C5B-451B-9A3D-B5FFBE6A6624}" presName="text" presStyleLbl="node1" presStyleIdx="4" presStyleCnt="6" custScaleX="317500">
        <dgm:presLayoutVars>
          <dgm:bulletEnabled val="1"/>
        </dgm:presLayoutVars>
      </dgm:prSet>
      <dgm:spPr/>
    </dgm:pt>
    <dgm:pt modelId="{77703495-6FAB-4774-88EF-5E1C99A99C18}" type="pres">
      <dgm:prSet presAssocID="{85EA03DF-0158-4AE0-9BC8-16934EEAFAE2}" presName="space" presStyleCnt="0"/>
      <dgm:spPr/>
    </dgm:pt>
    <dgm:pt modelId="{EFB0BB2C-F7BC-4A32-9E46-3E790B401BAA}" type="pres">
      <dgm:prSet presAssocID="{1ACCF728-311F-4460-8516-B5AFDE8C21F9}" presName="text" presStyleLbl="node1" presStyleIdx="5" presStyleCnt="6" custScaleX="317500">
        <dgm:presLayoutVars>
          <dgm:bulletEnabled val="1"/>
        </dgm:presLayoutVars>
      </dgm:prSet>
      <dgm:spPr/>
    </dgm:pt>
  </dgm:ptLst>
  <dgm:cxnLst>
    <dgm:cxn modelId="{DF470E05-FF8B-4D89-8066-F67BDA9C66EF}" srcId="{6D013D4C-C298-4C5D-9007-6D467D94FD0B}" destId="{66D5096D-EF10-4CF6-BA9B-8FFAD026FA7D}" srcOrd="3" destOrd="0" parTransId="{D62BEE7B-AD4F-44AA-A96A-2F4F8795B084}" sibTransId="{E5753126-1193-4A2E-A500-40924A4D5FA9}"/>
    <dgm:cxn modelId="{E0CA1D05-E375-45B8-9F34-BF02E0B15104}" type="presOf" srcId="{6D013D4C-C298-4C5D-9007-6D467D94FD0B}" destId="{1FD8FD4E-F423-4CD4-AA9E-6090B87891C9}" srcOrd="0" destOrd="0" presId="urn:diagrams.loki3.com/VaryingWidthList"/>
    <dgm:cxn modelId="{1E5DD013-AF9B-4FB6-BF7B-62A4E5FE5489}" srcId="{6D013D4C-C298-4C5D-9007-6D467D94FD0B}" destId="{1ACCF728-311F-4460-8516-B5AFDE8C21F9}" srcOrd="5" destOrd="0" parTransId="{0F07D1C3-5059-4D77-B5DB-06B51E9A6EB4}" sibTransId="{6E97861A-783B-4524-B79B-5F6A9BD93E0A}"/>
    <dgm:cxn modelId="{63CF7938-5C6C-436D-948D-CEAC3941A69E}" srcId="{6D013D4C-C298-4C5D-9007-6D467D94FD0B}" destId="{86433130-7A48-4008-B28E-63B2B04D0038}" srcOrd="2" destOrd="0" parTransId="{29888329-4C17-4A89-B923-C24D776EC303}" sibTransId="{778CA588-8EFA-497D-8661-DEAF89D18310}"/>
    <dgm:cxn modelId="{A78B4D43-414A-488E-B4B3-D207936915E2}" srcId="{6D013D4C-C298-4C5D-9007-6D467D94FD0B}" destId="{9A50771B-5868-4C35-9A3A-33186C834C22}" srcOrd="1" destOrd="0" parTransId="{9C20CF38-3E66-469F-913B-B6D4C2470152}" sibTransId="{CE3A237D-A206-4C89-A763-51438E157EEF}"/>
    <dgm:cxn modelId="{707F5D82-C26D-4A80-B8D3-81B69A3CE7CB}" type="presOf" srcId="{9A50771B-5868-4C35-9A3A-33186C834C22}" destId="{674D1CBB-F2AB-4EEA-843C-08622AEA8462}" srcOrd="0" destOrd="0" presId="urn:diagrams.loki3.com/VaryingWidthList"/>
    <dgm:cxn modelId="{BAEB759E-5D83-40C5-92B1-D28B759CDEEF}" type="presOf" srcId="{FE0CE4EB-0C5B-451B-9A3D-B5FFBE6A6624}" destId="{7AE16D99-5DCB-4D5D-8D3D-97583D41E378}" srcOrd="0" destOrd="0" presId="urn:diagrams.loki3.com/VaryingWidthList"/>
    <dgm:cxn modelId="{EE3E62A4-74D2-40D5-8E9E-9AEF86EC10AD}" type="presOf" srcId="{1ACCF728-311F-4460-8516-B5AFDE8C21F9}" destId="{EFB0BB2C-F7BC-4A32-9E46-3E790B401BAA}" srcOrd="0" destOrd="0" presId="urn:diagrams.loki3.com/VaryingWidthList"/>
    <dgm:cxn modelId="{FCE30FC5-5013-4F8D-A6F9-EF023DFC2DCF}" type="presOf" srcId="{66D5096D-EF10-4CF6-BA9B-8FFAD026FA7D}" destId="{F7A88727-2CEE-47C5-9FCB-74D6F8445205}" srcOrd="0" destOrd="0" presId="urn:diagrams.loki3.com/VaryingWidthList"/>
    <dgm:cxn modelId="{EC8849CC-4E15-4775-9193-1E614E92E905}" srcId="{6D013D4C-C298-4C5D-9007-6D467D94FD0B}" destId="{FE0CE4EB-0C5B-451B-9A3D-B5FFBE6A6624}" srcOrd="4" destOrd="0" parTransId="{666A7D1B-066F-4777-B25E-18B6DDF0101D}" sibTransId="{85EA03DF-0158-4AE0-9BC8-16934EEAFAE2}"/>
    <dgm:cxn modelId="{2A1F96CF-BA33-49E6-A06D-60642FD64FE9}" type="presOf" srcId="{B9DCC985-EA3E-435D-9CD2-D7B3C05C4FDB}" destId="{0CADFC52-BFC2-419C-8E85-8D3CF8BECF72}" srcOrd="0" destOrd="0" presId="urn:diagrams.loki3.com/VaryingWidthList"/>
    <dgm:cxn modelId="{AEA6FBDA-8E64-44A5-AD78-022D0019E83D}" type="presOf" srcId="{86433130-7A48-4008-B28E-63B2B04D0038}" destId="{4D775EC6-3B57-4387-A5B2-76FC4397F1DE}" srcOrd="0" destOrd="0" presId="urn:diagrams.loki3.com/VaryingWidthList"/>
    <dgm:cxn modelId="{2A31B6E7-277E-4CEA-8429-6F9B8DDB524C}" srcId="{6D013D4C-C298-4C5D-9007-6D467D94FD0B}" destId="{B9DCC985-EA3E-435D-9CD2-D7B3C05C4FDB}" srcOrd="0" destOrd="0" parTransId="{F0EC050D-5E97-47A5-A132-D7621E1A6CFC}" sibTransId="{C62032E4-3712-4637-9D3B-DE00D7E7F596}"/>
    <dgm:cxn modelId="{7E9167E5-3A72-4F6C-8D85-0DDAD0D136D9}" type="presParOf" srcId="{1FD8FD4E-F423-4CD4-AA9E-6090B87891C9}" destId="{0CADFC52-BFC2-419C-8E85-8D3CF8BECF72}" srcOrd="0" destOrd="0" presId="urn:diagrams.loki3.com/VaryingWidthList"/>
    <dgm:cxn modelId="{A4A929C1-43FF-4420-8D9F-A364D8605966}" type="presParOf" srcId="{1FD8FD4E-F423-4CD4-AA9E-6090B87891C9}" destId="{280E07A0-A768-44B8-B433-387C2989F88F}" srcOrd="1" destOrd="0" presId="urn:diagrams.loki3.com/VaryingWidthList"/>
    <dgm:cxn modelId="{7F031E62-B3D3-4976-B5AB-036C9006A224}" type="presParOf" srcId="{1FD8FD4E-F423-4CD4-AA9E-6090B87891C9}" destId="{674D1CBB-F2AB-4EEA-843C-08622AEA8462}" srcOrd="2" destOrd="0" presId="urn:diagrams.loki3.com/VaryingWidthList"/>
    <dgm:cxn modelId="{F4D24205-3F7C-49E8-81DC-95CCA0117240}" type="presParOf" srcId="{1FD8FD4E-F423-4CD4-AA9E-6090B87891C9}" destId="{B5F56FB2-3B54-4BD2-9FE3-48B3E4A70A4F}" srcOrd="3" destOrd="0" presId="urn:diagrams.loki3.com/VaryingWidthList"/>
    <dgm:cxn modelId="{8FD5134A-5815-4A90-A0A1-6A7A7D944EAC}" type="presParOf" srcId="{1FD8FD4E-F423-4CD4-AA9E-6090B87891C9}" destId="{4D775EC6-3B57-4387-A5B2-76FC4397F1DE}" srcOrd="4" destOrd="0" presId="urn:diagrams.loki3.com/VaryingWidthList"/>
    <dgm:cxn modelId="{E7C7FC75-A2E8-48B3-B95F-1331ED82B12B}" type="presParOf" srcId="{1FD8FD4E-F423-4CD4-AA9E-6090B87891C9}" destId="{1D096541-EAAE-481D-8EDB-86C56FB13147}" srcOrd="5" destOrd="0" presId="urn:diagrams.loki3.com/VaryingWidthList"/>
    <dgm:cxn modelId="{F7150310-72D5-471B-B156-14E565761ECB}" type="presParOf" srcId="{1FD8FD4E-F423-4CD4-AA9E-6090B87891C9}" destId="{F7A88727-2CEE-47C5-9FCB-74D6F8445205}" srcOrd="6" destOrd="0" presId="urn:diagrams.loki3.com/VaryingWidthList"/>
    <dgm:cxn modelId="{5924BDED-64D7-47B2-B92A-7DA967ACEBE7}" type="presParOf" srcId="{1FD8FD4E-F423-4CD4-AA9E-6090B87891C9}" destId="{D8123863-2705-4EDB-AC94-35EE32A93601}" srcOrd="7" destOrd="0" presId="urn:diagrams.loki3.com/VaryingWidthList"/>
    <dgm:cxn modelId="{04CF0384-974B-4B01-865B-333B34E7297A}" type="presParOf" srcId="{1FD8FD4E-F423-4CD4-AA9E-6090B87891C9}" destId="{7AE16D99-5DCB-4D5D-8D3D-97583D41E378}" srcOrd="8" destOrd="0" presId="urn:diagrams.loki3.com/VaryingWidthList"/>
    <dgm:cxn modelId="{78795B42-C65B-468A-8C71-E8A5FAFDE4C0}" type="presParOf" srcId="{1FD8FD4E-F423-4CD4-AA9E-6090B87891C9}" destId="{77703495-6FAB-4774-88EF-5E1C99A99C18}" srcOrd="9" destOrd="0" presId="urn:diagrams.loki3.com/VaryingWidthList"/>
    <dgm:cxn modelId="{889EA1B9-3D54-4C05-BD88-457034E29415}" type="presParOf" srcId="{1FD8FD4E-F423-4CD4-AA9E-6090B87891C9}" destId="{EFB0BB2C-F7BC-4A32-9E46-3E790B401BAA}" srcOrd="1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DFC52-BFC2-419C-8E85-8D3CF8BECF72}">
      <dsp:nvSpPr>
        <dsp:cNvPr id="0" name=""/>
        <dsp:cNvSpPr/>
      </dsp:nvSpPr>
      <dsp:spPr>
        <a:xfrm>
          <a:off x="0" y="2113"/>
          <a:ext cx="2590800" cy="1230715"/>
        </a:xfrm>
        <a:prstGeom prst="rect">
          <a:avLst/>
        </a:prstGeom>
        <a:solidFill>
          <a:srgbClr val="8D0000"/>
        </a:solidFill>
        <a:ln w="25400" cap="flat" cmpd="sng" algn="ctr">
          <a:solidFill>
            <a:srgbClr val="8D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Sector </a:t>
          </a:r>
          <a:br>
            <a:rPr lang="en-US" sz="2400" b="1" kern="1200" dirty="0"/>
          </a:br>
          <a:r>
            <a:rPr lang="en-US" sz="2400" b="1" kern="1200" dirty="0"/>
            <a:t>Overview</a:t>
          </a:r>
          <a:endParaRPr lang="en-IN" sz="2400" b="1" kern="1200" dirty="0"/>
        </a:p>
      </dsp:txBody>
      <dsp:txXfrm>
        <a:off x="0" y="2113"/>
        <a:ext cx="2590800" cy="1230715"/>
      </dsp:txXfrm>
    </dsp:sp>
    <dsp:sp modelId="{674D1CBB-F2AB-4EEA-843C-08622AEA8462}">
      <dsp:nvSpPr>
        <dsp:cNvPr id="0" name=""/>
        <dsp:cNvSpPr/>
      </dsp:nvSpPr>
      <dsp:spPr>
        <a:xfrm>
          <a:off x="0" y="1294365"/>
          <a:ext cx="2590800" cy="1230715"/>
        </a:xfrm>
        <a:prstGeom prst="rect">
          <a:avLst/>
        </a:prstGeom>
        <a:solidFill>
          <a:srgbClr val="8D0000"/>
        </a:solidFill>
        <a:ln w="25400" cap="flat" cmpd="sng" algn="ctr">
          <a:solidFill>
            <a:srgbClr val="8D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Subsector Overview</a:t>
          </a:r>
          <a:endParaRPr lang="en-IN" sz="2400" b="1" kern="1200" dirty="0"/>
        </a:p>
      </dsp:txBody>
      <dsp:txXfrm>
        <a:off x="0" y="1294365"/>
        <a:ext cx="2590800" cy="1230715"/>
      </dsp:txXfrm>
    </dsp:sp>
    <dsp:sp modelId="{4D775EC6-3B57-4387-A5B2-76FC4397F1DE}">
      <dsp:nvSpPr>
        <dsp:cNvPr id="0" name=""/>
        <dsp:cNvSpPr/>
      </dsp:nvSpPr>
      <dsp:spPr>
        <a:xfrm>
          <a:off x="0" y="2586616"/>
          <a:ext cx="2590800" cy="1230715"/>
        </a:xfrm>
        <a:prstGeom prst="rect">
          <a:avLst/>
        </a:prstGeom>
        <a:solidFill>
          <a:srgbClr val="8D0000"/>
        </a:solidFill>
        <a:ln w="25400" cap="flat" cmpd="sng" algn="ctr">
          <a:solidFill>
            <a:srgbClr val="8D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Subsector Overview</a:t>
          </a:r>
          <a:endParaRPr lang="en-IN" sz="2400" b="1" kern="1200" dirty="0"/>
        </a:p>
      </dsp:txBody>
      <dsp:txXfrm>
        <a:off x="0" y="2586616"/>
        <a:ext cx="2590800" cy="1230715"/>
      </dsp:txXfrm>
    </dsp:sp>
    <dsp:sp modelId="{F7A88727-2CEE-47C5-9FCB-74D6F8445205}">
      <dsp:nvSpPr>
        <dsp:cNvPr id="0" name=""/>
        <dsp:cNvSpPr/>
      </dsp:nvSpPr>
      <dsp:spPr>
        <a:xfrm>
          <a:off x="0" y="3878867"/>
          <a:ext cx="2590800" cy="1230715"/>
        </a:xfrm>
        <a:prstGeom prst="rect">
          <a:avLst/>
        </a:prstGeom>
        <a:solidFill>
          <a:srgbClr val="8D0000"/>
        </a:solidFill>
        <a:ln w="25400" cap="flat" cmpd="sng" algn="ctr">
          <a:solidFill>
            <a:srgbClr val="8D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Subsector Overview</a:t>
          </a:r>
          <a:endParaRPr lang="en-IN" sz="2400" b="1" kern="1200" dirty="0"/>
        </a:p>
      </dsp:txBody>
      <dsp:txXfrm>
        <a:off x="0" y="3878867"/>
        <a:ext cx="2590800" cy="1230715"/>
      </dsp:txXfrm>
    </dsp:sp>
    <dsp:sp modelId="{7AE16D99-5DCB-4D5D-8D3D-97583D41E378}">
      <dsp:nvSpPr>
        <dsp:cNvPr id="0" name=""/>
        <dsp:cNvSpPr/>
      </dsp:nvSpPr>
      <dsp:spPr>
        <a:xfrm>
          <a:off x="0" y="5171119"/>
          <a:ext cx="2590800" cy="1230715"/>
        </a:xfrm>
        <a:prstGeom prst="rect">
          <a:avLst/>
        </a:prstGeom>
        <a:solidFill>
          <a:srgbClr val="8D0000"/>
        </a:solidFill>
        <a:ln w="25400" cap="flat" cmpd="sng" algn="ctr">
          <a:solidFill>
            <a:srgbClr val="8D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Subsector Overview</a:t>
          </a:r>
          <a:endParaRPr lang="en-IN" sz="2400" b="1" kern="1200" dirty="0"/>
        </a:p>
      </dsp:txBody>
      <dsp:txXfrm>
        <a:off x="0" y="5171119"/>
        <a:ext cx="2590800" cy="1230715"/>
      </dsp:txXfrm>
    </dsp:sp>
    <dsp:sp modelId="{EFB0BB2C-F7BC-4A32-9E46-3E790B401BAA}">
      <dsp:nvSpPr>
        <dsp:cNvPr id="0" name=""/>
        <dsp:cNvSpPr/>
      </dsp:nvSpPr>
      <dsp:spPr>
        <a:xfrm>
          <a:off x="0" y="6463370"/>
          <a:ext cx="2590800" cy="1230715"/>
        </a:xfrm>
        <a:prstGeom prst="rect">
          <a:avLst/>
        </a:prstGeom>
        <a:solidFill>
          <a:srgbClr val="8D0000"/>
        </a:solidFill>
        <a:ln w="25400" cap="flat" cmpd="sng" algn="ctr">
          <a:solidFill>
            <a:srgbClr val="8D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Barriers to Penetration </a:t>
          </a:r>
          <a:endParaRPr lang="en-IN" sz="2400" b="1" kern="1200" dirty="0"/>
        </a:p>
      </dsp:txBody>
      <dsp:txXfrm>
        <a:off x="0" y="6463370"/>
        <a:ext cx="2590800" cy="1230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C9B4D-752F-4504-BD45-FA1A9F83DE96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0B26-8CE2-43F6-8383-79E12CBE60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51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B0B26-8CE2-43F6-8383-79E12CBE60F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3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image" Target="../media/image4.jpe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0063" y="2542199"/>
            <a:ext cx="4875568" cy="4029806"/>
          </a:xfrm>
          <a:custGeom>
            <a:avLst/>
            <a:gdLst/>
            <a:ahLst/>
            <a:cxnLst/>
            <a:rect l="l" t="t" r="r" b="b"/>
            <a:pathLst>
              <a:path w="4875568" h="4029806">
                <a:moveTo>
                  <a:pt x="0" y="0"/>
                </a:moveTo>
                <a:lnTo>
                  <a:pt x="4875567" y="0"/>
                </a:lnTo>
                <a:lnTo>
                  <a:pt x="4875567" y="4029806"/>
                </a:lnTo>
                <a:lnTo>
                  <a:pt x="0" y="402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93" b="-10493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D14C7265-5DA9-07DB-F3EB-07018EC12B4F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723917-6599-3CB3-EF27-56B72BDF38DD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0D99FDD-A776-7764-54F0-EB2A506078A9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F4661754-4EE6-1ACC-BF38-2960154EF409}"/>
              </a:ext>
            </a:extLst>
          </p:cNvPr>
          <p:cNvSpPr/>
          <p:nvPr/>
        </p:nvSpPr>
        <p:spPr>
          <a:xfrm>
            <a:off x="13750498" y="3086100"/>
            <a:ext cx="3508802" cy="4114800"/>
          </a:xfrm>
          <a:custGeom>
            <a:avLst/>
            <a:gdLst/>
            <a:ahLst/>
            <a:cxnLst/>
            <a:rect l="l" t="t" r="r" b="b"/>
            <a:pathLst>
              <a:path w="3508802" h="4114800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9D9E5223-8FC9-C765-04D1-B792713A1C86}"/>
              </a:ext>
            </a:extLst>
          </p:cNvPr>
          <p:cNvSpPr txBox="1"/>
          <p:nvPr/>
        </p:nvSpPr>
        <p:spPr>
          <a:xfrm>
            <a:off x="1028700" y="1028700"/>
            <a:ext cx="9120264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None/>
            </a:pPr>
            <a:r>
              <a:rPr lang="en-US" sz="4400" b="1" dirty="0"/>
              <a:t>Sectors Resilient to Generative AI Disruption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E91CD96-4F98-ACF4-9FE6-87730DCEED79}"/>
              </a:ext>
            </a:extLst>
          </p:cNvPr>
          <p:cNvSpPr/>
          <p:nvPr/>
        </p:nvSpPr>
        <p:spPr>
          <a:xfrm>
            <a:off x="917567" y="2695640"/>
            <a:ext cx="974035" cy="954154"/>
          </a:xfrm>
          <a:prstGeom prst="ellipse">
            <a:avLst/>
          </a:prstGeom>
          <a:noFill/>
          <a:ln w="28575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Graphic 12" descr="Farmer">
            <a:extLst>
              <a:ext uri="{FF2B5EF4-FFF2-40B4-BE49-F238E27FC236}">
                <a16:creationId xmlns:a16="http://schemas.microsoft.com/office/drawing/2014/main" id="{D2DA10A6-8471-31F3-91F7-8EFD9103C9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700" y="2770482"/>
            <a:ext cx="804470" cy="80447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FAF08E75-3ECA-345C-09C9-C60D0F51CDA2}"/>
              </a:ext>
            </a:extLst>
          </p:cNvPr>
          <p:cNvSpPr/>
          <p:nvPr/>
        </p:nvSpPr>
        <p:spPr>
          <a:xfrm>
            <a:off x="914737" y="3770354"/>
            <a:ext cx="974035" cy="954154"/>
          </a:xfrm>
          <a:prstGeom prst="ellipse">
            <a:avLst/>
          </a:prstGeom>
          <a:noFill/>
          <a:ln w="28575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Graphic 14" descr="Cement truck">
            <a:extLst>
              <a:ext uri="{FF2B5EF4-FFF2-40B4-BE49-F238E27FC236}">
                <a16:creationId xmlns:a16="http://schemas.microsoft.com/office/drawing/2014/main" id="{0CBC0CFC-8217-0FB3-92BB-AF45052C5E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3882" y="3859957"/>
            <a:ext cx="789709" cy="789709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3B636BCA-F40D-5D02-F77A-B4E3FBD30981}"/>
              </a:ext>
            </a:extLst>
          </p:cNvPr>
          <p:cNvSpPr/>
          <p:nvPr/>
        </p:nvSpPr>
        <p:spPr>
          <a:xfrm>
            <a:off x="913937" y="4846461"/>
            <a:ext cx="974036" cy="954154"/>
          </a:xfrm>
          <a:prstGeom prst="ellipse">
            <a:avLst/>
          </a:prstGeom>
          <a:noFill/>
          <a:ln w="28575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Graphic 18" descr="Clapper board">
            <a:extLst>
              <a:ext uri="{FF2B5EF4-FFF2-40B4-BE49-F238E27FC236}">
                <a16:creationId xmlns:a16="http://schemas.microsoft.com/office/drawing/2014/main" id="{CCD7B6BA-A170-F904-ECE6-917431807E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3882" y="4911020"/>
            <a:ext cx="728718" cy="728718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22DCF8F1-F3BF-2284-3A5F-C29B07050F77}"/>
              </a:ext>
            </a:extLst>
          </p:cNvPr>
          <p:cNvSpPr/>
          <p:nvPr/>
        </p:nvSpPr>
        <p:spPr>
          <a:xfrm>
            <a:off x="917566" y="7006965"/>
            <a:ext cx="974035" cy="954154"/>
          </a:xfrm>
          <a:prstGeom prst="ellipse">
            <a:avLst/>
          </a:prstGeom>
          <a:noFill/>
          <a:ln w="28575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Graphic 20" descr="Mining tools">
            <a:extLst>
              <a:ext uri="{FF2B5EF4-FFF2-40B4-BE49-F238E27FC236}">
                <a16:creationId xmlns:a16="http://schemas.microsoft.com/office/drawing/2014/main" id="{921C3444-3E40-E5C5-7ED6-5AB53688AB2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2889" y="7138581"/>
            <a:ext cx="699655" cy="699655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D4AF867-AF98-F3BD-B71F-66BE990346F1}"/>
              </a:ext>
            </a:extLst>
          </p:cNvPr>
          <p:cNvSpPr/>
          <p:nvPr/>
        </p:nvSpPr>
        <p:spPr>
          <a:xfrm>
            <a:off x="917188" y="8075546"/>
            <a:ext cx="974035" cy="954154"/>
          </a:xfrm>
          <a:prstGeom prst="ellipse">
            <a:avLst/>
          </a:prstGeom>
          <a:noFill/>
          <a:ln w="28575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Graphic 26" descr="Medical">
            <a:extLst>
              <a:ext uri="{FF2B5EF4-FFF2-40B4-BE49-F238E27FC236}">
                <a16:creationId xmlns:a16="http://schemas.microsoft.com/office/drawing/2014/main" id="{63FE7118-25D3-B7CC-AB0C-F2AB33C711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7261" y="8116206"/>
            <a:ext cx="865909" cy="865909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A1FF24A8-2D25-3099-8CCC-832EBF67F15B}"/>
              </a:ext>
            </a:extLst>
          </p:cNvPr>
          <p:cNvSpPr/>
          <p:nvPr/>
        </p:nvSpPr>
        <p:spPr>
          <a:xfrm>
            <a:off x="913197" y="5925236"/>
            <a:ext cx="974035" cy="954154"/>
          </a:xfrm>
          <a:prstGeom prst="ellipse">
            <a:avLst/>
          </a:prstGeom>
          <a:noFill/>
          <a:ln w="28575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Graphic 29" descr="Users">
            <a:extLst>
              <a:ext uri="{FF2B5EF4-FFF2-40B4-BE49-F238E27FC236}">
                <a16:creationId xmlns:a16="http://schemas.microsoft.com/office/drawing/2014/main" id="{B08A05B6-BB2C-9A08-166B-0ABB9D54516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5517" y="5943631"/>
            <a:ext cx="914400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6EDD5F7-AB7B-AB21-C578-1AA82AC63445}"/>
              </a:ext>
            </a:extLst>
          </p:cNvPr>
          <p:cNvSpPr txBox="1"/>
          <p:nvPr/>
        </p:nvSpPr>
        <p:spPr>
          <a:xfrm>
            <a:off x="2016182" y="2971309"/>
            <a:ext cx="350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Agricultural Sector</a:t>
            </a:r>
            <a:endParaRPr lang="en-IN" i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D4C03D-881D-C5EE-8A7C-2BBADAAC4F4C}"/>
              </a:ext>
            </a:extLst>
          </p:cNvPr>
          <p:cNvSpPr txBox="1"/>
          <p:nvPr/>
        </p:nvSpPr>
        <p:spPr>
          <a:xfrm>
            <a:off x="2020664" y="4062765"/>
            <a:ext cx="350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Construction Sector</a:t>
            </a:r>
            <a:endParaRPr lang="en-IN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DB2094-C63D-7DB7-4FDE-1DB061E05F83}"/>
              </a:ext>
            </a:extLst>
          </p:cNvPr>
          <p:cNvSpPr txBox="1"/>
          <p:nvPr/>
        </p:nvSpPr>
        <p:spPr>
          <a:xfrm>
            <a:off x="2016182" y="5133369"/>
            <a:ext cx="350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Arts and Creativity Industry</a:t>
            </a:r>
            <a:endParaRPr lang="en-IN" i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454F7C-8335-580C-75EA-1043805CD881}"/>
              </a:ext>
            </a:extLst>
          </p:cNvPr>
          <p:cNvSpPr txBox="1"/>
          <p:nvPr/>
        </p:nvSpPr>
        <p:spPr>
          <a:xfrm>
            <a:off x="2020664" y="6077665"/>
            <a:ext cx="3508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Human Resource and Social Services Sector</a:t>
            </a:r>
            <a:endParaRPr lang="en-IN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236A86-838F-D3CE-A8FF-63A41280C85A}"/>
              </a:ext>
            </a:extLst>
          </p:cNvPr>
          <p:cNvSpPr txBox="1"/>
          <p:nvPr/>
        </p:nvSpPr>
        <p:spPr>
          <a:xfrm>
            <a:off x="2016182" y="7299376"/>
            <a:ext cx="350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Mining Sector</a:t>
            </a:r>
            <a:endParaRPr lang="en-IN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610B21-A39A-A5D1-BA4A-57E8EAF17826}"/>
              </a:ext>
            </a:extLst>
          </p:cNvPr>
          <p:cNvSpPr txBox="1"/>
          <p:nvPr/>
        </p:nvSpPr>
        <p:spPr>
          <a:xfrm>
            <a:off x="2016182" y="8366252"/>
            <a:ext cx="3508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Healthcare Sector</a:t>
            </a:r>
            <a:endParaRPr lang="en-IN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63A97-A4FE-FBE5-A1F4-78B916DE7A66}"/>
              </a:ext>
            </a:extLst>
          </p:cNvPr>
          <p:cNvSpPr txBox="1"/>
          <p:nvPr/>
        </p:nvSpPr>
        <p:spPr>
          <a:xfrm>
            <a:off x="8001000" y="2950457"/>
            <a:ext cx="3508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Page No. : 2</a:t>
            </a:r>
            <a:endParaRPr lang="en-IN" sz="16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1A4FD-4A18-CDED-EEF0-8015DCBA778C}"/>
              </a:ext>
            </a:extLst>
          </p:cNvPr>
          <p:cNvSpPr txBox="1"/>
          <p:nvPr/>
        </p:nvSpPr>
        <p:spPr>
          <a:xfrm>
            <a:off x="8001000" y="4070145"/>
            <a:ext cx="3508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Page No. : 3</a:t>
            </a:r>
            <a:endParaRPr lang="en-IN" sz="16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31F49-F4AF-57FF-813E-54D90672B39B}"/>
              </a:ext>
            </a:extLst>
          </p:cNvPr>
          <p:cNvSpPr txBox="1"/>
          <p:nvPr/>
        </p:nvSpPr>
        <p:spPr>
          <a:xfrm>
            <a:off x="8001000" y="5133369"/>
            <a:ext cx="3508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Page No. : 4</a:t>
            </a:r>
            <a:endParaRPr lang="en-IN" sz="16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C6DA51-8F37-63A8-CDFF-384A7C3B77C4}"/>
              </a:ext>
            </a:extLst>
          </p:cNvPr>
          <p:cNvSpPr txBox="1"/>
          <p:nvPr/>
        </p:nvSpPr>
        <p:spPr>
          <a:xfrm>
            <a:off x="8001000" y="6100346"/>
            <a:ext cx="3508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Page No. : 5</a:t>
            </a:r>
            <a:endParaRPr lang="en-IN" sz="16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8ED10-A906-7751-B7D9-08AE46DD50FA}"/>
              </a:ext>
            </a:extLst>
          </p:cNvPr>
          <p:cNvSpPr txBox="1"/>
          <p:nvPr/>
        </p:nvSpPr>
        <p:spPr>
          <a:xfrm>
            <a:off x="8001000" y="7319546"/>
            <a:ext cx="3508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Page No. : 6</a:t>
            </a:r>
            <a:endParaRPr lang="en-IN" sz="1600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DAC6A0-D630-4C38-079E-32E4ECB23700}"/>
              </a:ext>
            </a:extLst>
          </p:cNvPr>
          <p:cNvSpPr txBox="1"/>
          <p:nvPr/>
        </p:nvSpPr>
        <p:spPr>
          <a:xfrm>
            <a:off x="8001000" y="8366252"/>
            <a:ext cx="3508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Page No. : 7</a:t>
            </a:r>
            <a:endParaRPr lang="en-IN" sz="1600" i="1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FF6F5A-144A-615C-86DD-2D769DC71CA5}"/>
              </a:ext>
            </a:extLst>
          </p:cNvPr>
          <p:cNvCxnSpPr/>
          <p:nvPr/>
        </p:nvCxnSpPr>
        <p:spPr>
          <a:xfrm>
            <a:off x="4114800" y="3155975"/>
            <a:ext cx="36576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2E156D-5C0C-9446-9CB5-1A2561566F2D}"/>
              </a:ext>
            </a:extLst>
          </p:cNvPr>
          <p:cNvCxnSpPr/>
          <p:nvPr/>
        </p:nvCxnSpPr>
        <p:spPr>
          <a:xfrm>
            <a:off x="4114800" y="4256106"/>
            <a:ext cx="36576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9E49D2F-0809-0E85-74B4-A710F787F266}"/>
              </a:ext>
            </a:extLst>
          </p:cNvPr>
          <p:cNvCxnSpPr>
            <a:cxnSpLocks/>
          </p:cNvCxnSpPr>
          <p:nvPr/>
        </p:nvCxnSpPr>
        <p:spPr>
          <a:xfrm>
            <a:off x="4876800" y="5322181"/>
            <a:ext cx="28956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BE8D498-F4FF-517A-42B2-7C095B7A0A95}"/>
              </a:ext>
            </a:extLst>
          </p:cNvPr>
          <p:cNvCxnSpPr>
            <a:cxnSpLocks/>
          </p:cNvCxnSpPr>
          <p:nvPr/>
        </p:nvCxnSpPr>
        <p:spPr>
          <a:xfrm>
            <a:off x="4876800" y="6286500"/>
            <a:ext cx="28956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320245D-F328-6E8D-7FEB-68ED71D9E97A}"/>
              </a:ext>
            </a:extLst>
          </p:cNvPr>
          <p:cNvCxnSpPr>
            <a:cxnSpLocks/>
          </p:cNvCxnSpPr>
          <p:nvPr/>
        </p:nvCxnSpPr>
        <p:spPr>
          <a:xfrm>
            <a:off x="3657600" y="7484042"/>
            <a:ext cx="41605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33EDE3-88C1-8BAD-82C8-7F45CF3C229F}"/>
              </a:ext>
            </a:extLst>
          </p:cNvPr>
          <p:cNvCxnSpPr>
            <a:cxnSpLocks/>
          </p:cNvCxnSpPr>
          <p:nvPr/>
        </p:nvCxnSpPr>
        <p:spPr>
          <a:xfrm>
            <a:off x="3939540" y="8567211"/>
            <a:ext cx="390906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18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1E120341-8007-21FC-4ACB-613399DA3C37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55D046E-CBD3-5F81-9BB9-7274F7D85C25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40C49C0-2934-E1A1-18EE-3C3224406F3E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sp>
        <p:nvSpPr>
          <p:cNvPr id="6" name="TextBox 7">
            <a:extLst>
              <a:ext uri="{FF2B5EF4-FFF2-40B4-BE49-F238E27FC236}">
                <a16:creationId xmlns:a16="http://schemas.microsoft.com/office/drawing/2014/main" id="{2E2186F8-7B99-95ED-C9E6-D39235E49652}"/>
              </a:ext>
            </a:extLst>
          </p:cNvPr>
          <p:cNvSpPr txBox="1"/>
          <p:nvPr/>
        </p:nvSpPr>
        <p:spPr>
          <a:xfrm>
            <a:off x="1028700" y="1028700"/>
            <a:ext cx="912026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b="1" dirty="0"/>
              <a:t>Agricultural Sector Overview </a:t>
            </a:r>
            <a:endParaRPr lang="en-IN" sz="4400" b="1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D6584A-00D5-A1C4-E02A-F1E4DB325E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8862828"/>
              </p:ext>
            </p:extLst>
          </p:nvPr>
        </p:nvGraphicFramePr>
        <p:xfrm>
          <a:off x="762000" y="2232196"/>
          <a:ext cx="6955954" cy="4208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ED0DD99-3DDC-FB93-8606-9DB779ECACAE}"/>
              </a:ext>
            </a:extLst>
          </p:cNvPr>
          <p:cNvSpPr txBox="1"/>
          <p:nvPr/>
        </p:nvSpPr>
        <p:spPr>
          <a:xfrm>
            <a:off x="762000" y="6368255"/>
            <a:ext cx="3816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*Amount in Trillion $</a:t>
            </a:r>
            <a:endParaRPr lang="en-IN" sz="1200" i="1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DAEAD88-C15A-89E7-593D-B26F178AE19B}"/>
              </a:ext>
            </a:extLst>
          </p:cNvPr>
          <p:cNvSpPr/>
          <p:nvPr/>
        </p:nvSpPr>
        <p:spPr>
          <a:xfrm rot="20430307">
            <a:off x="1359282" y="2924401"/>
            <a:ext cx="5418552" cy="269969"/>
          </a:xfrm>
          <a:prstGeom prst="rightArrow">
            <a:avLst/>
          </a:prstGeom>
          <a:solidFill>
            <a:srgbClr val="8D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A38569-B47C-3B91-3F78-1D44B8D81E8C}"/>
              </a:ext>
            </a:extLst>
          </p:cNvPr>
          <p:cNvSpPr/>
          <p:nvPr/>
        </p:nvSpPr>
        <p:spPr>
          <a:xfrm rot="20425771">
            <a:off x="3287946" y="2902504"/>
            <a:ext cx="1322623" cy="381000"/>
          </a:xfrm>
          <a:prstGeom prst="rect">
            <a:avLst/>
          </a:prstGeom>
          <a:solidFill>
            <a:srgbClr val="8D0000"/>
          </a:solidFill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89B36-B63C-541D-FE3B-10E7A0D3EEDA}"/>
              </a:ext>
            </a:extLst>
          </p:cNvPr>
          <p:cNvSpPr txBox="1"/>
          <p:nvPr/>
        </p:nvSpPr>
        <p:spPr>
          <a:xfrm rot="20434386">
            <a:off x="3344500" y="2925528"/>
            <a:ext cx="12331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CAGR:10.08%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97A6A7CA-584F-2898-8DDB-8A5DD1A3477A}"/>
              </a:ext>
            </a:extLst>
          </p:cNvPr>
          <p:cNvSpPr txBox="1"/>
          <p:nvPr/>
        </p:nvSpPr>
        <p:spPr>
          <a:xfrm>
            <a:off x="3352800" y="6907768"/>
            <a:ext cx="258386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MARKET OVERVIEW</a:t>
            </a:r>
            <a:endParaRPr lang="en-IN" sz="2400" b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BDBA1E-F973-97EF-ACA4-7A6742BC822E}"/>
              </a:ext>
            </a:extLst>
          </p:cNvPr>
          <p:cNvCxnSpPr>
            <a:cxnSpLocks/>
          </p:cNvCxnSpPr>
          <p:nvPr/>
        </p:nvCxnSpPr>
        <p:spPr>
          <a:xfrm>
            <a:off x="11772180" y="2235542"/>
            <a:ext cx="7757" cy="4721861"/>
          </a:xfrm>
          <a:prstGeom prst="line">
            <a:avLst/>
          </a:prstGeom>
          <a:ln w="19050">
            <a:solidFill>
              <a:srgbClr val="8D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82E0EE55-40C3-4930-E9AF-227400C4836D}"/>
              </a:ext>
            </a:extLst>
          </p:cNvPr>
          <p:cNvSpPr/>
          <p:nvPr/>
        </p:nvSpPr>
        <p:spPr>
          <a:xfrm>
            <a:off x="11767834" y="2415926"/>
            <a:ext cx="5462656" cy="388708"/>
          </a:xfrm>
          <a:prstGeom prst="rect">
            <a:avLst/>
          </a:prstGeom>
          <a:solidFill>
            <a:srgbClr val="8D0000"/>
          </a:solidFill>
          <a:ln w="19050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3F235C-AB24-29D8-AA6B-B24AFCDD437D}"/>
              </a:ext>
            </a:extLst>
          </p:cNvPr>
          <p:cNvSpPr/>
          <p:nvPr/>
        </p:nvSpPr>
        <p:spPr>
          <a:xfrm>
            <a:off x="11767833" y="3175321"/>
            <a:ext cx="4887639" cy="388711"/>
          </a:xfrm>
          <a:prstGeom prst="rect">
            <a:avLst/>
          </a:prstGeom>
          <a:solidFill>
            <a:srgbClr val="8D0000"/>
          </a:solidFill>
          <a:ln w="19050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EC8845-5F83-996A-171F-B4E4EB8D8D72}"/>
              </a:ext>
            </a:extLst>
          </p:cNvPr>
          <p:cNvSpPr/>
          <p:nvPr/>
        </p:nvSpPr>
        <p:spPr>
          <a:xfrm>
            <a:off x="11763488" y="4604029"/>
            <a:ext cx="809511" cy="388710"/>
          </a:xfrm>
          <a:prstGeom prst="rect">
            <a:avLst/>
          </a:prstGeom>
          <a:solidFill>
            <a:srgbClr val="8D0000"/>
          </a:solidFill>
          <a:ln w="19050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C3999B-8D68-9B74-A522-6247798516E9}"/>
              </a:ext>
            </a:extLst>
          </p:cNvPr>
          <p:cNvSpPr/>
          <p:nvPr/>
        </p:nvSpPr>
        <p:spPr>
          <a:xfrm>
            <a:off x="11772179" y="3929249"/>
            <a:ext cx="4290507" cy="400110"/>
          </a:xfrm>
          <a:prstGeom prst="rect">
            <a:avLst/>
          </a:prstGeom>
          <a:solidFill>
            <a:srgbClr val="8D0000"/>
          </a:solidFill>
          <a:ln w="19050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8444FF-B717-19E9-DAC4-AE3EA5F7D34E}"/>
              </a:ext>
            </a:extLst>
          </p:cNvPr>
          <p:cNvSpPr/>
          <p:nvPr/>
        </p:nvSpPr>
        <p:spPr>
          <a:xfrm>
            <a:off x="11763488" y="5288698"/>
            <a:ext cx="1090293" cy="441974"/>
          </a:xfrm>
          <a:prstGeom prst="rect">
            <a:avLst/>
          </a:prstGeom>
          <a:solidFill>
            <a:srgbClr val="8D0000"/>
          </a:solidFill>
          <a:ln w="19050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724352-6F43-FE3B-C2AB-8BC243BB065C}"/>
              </a:ext>
            </a:extLst>
          </p:cNvPr>
          <p:cNvSpPr/>
          <p:nvPr/>
        </p:nvSpPr>
        <p:spPr>
          <a:xfrm>
            <a:off x="11772179" y="6005618"/>
            <a:ext cx="1090293" cy="441974"/>
          </a:xfrm>
          <a:prstGeom prst="rect">
            <a:avLst/>
          </a:prstGeom>
          <a:solidFill>
            <a:srgbClr val="8D0000"/>
          </a:solidFill>
          <a:ln w="19050"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D9972D-884A-5963-C5E7-54FBA86C0E56}"/>
              </a:ext>
            </a:extLst>
          </p:cNvPr>
          <p:cNvSpPr txBox="1"/>
          <p:nvPr/>
        </p:nvSpPr>
        <p:spPr>
          <a:xfrm>
            <a:off x="9053804" y="2398627"/>
            <a:ext cx="2735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AI-Driven Drones &amp; Satellite Imagery Analysis</a:t>
            </a:r>
            <a:endParaRPr lang="en-IN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B90D4B-E61F-46D9-3EFC-5DAC268BCF5B}"/>
              </a:ext>
            </a:extLst>
          </p:cNvPr>
          <p:cNvSpPr txBox="1"/>
          <p:nvPr/>
        </p:nvSpPr>
        <p:spPr>
          <a:xfrm>
            <a:off x="9228512" y="3181172"/>
            <a:ext cx="2559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Precision Sensors (Soil, Moisture, Climate)</a:t>
            </a:r>
            <a:endParaRPr lang="en-IN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911E7-0AFE-B5DF-71D2-CE550A51E168}"/>
              </a:ext>
            </a:extLst>
          </p:cNvPr>
          <p:cNvSpPr txBox="1"/>
          <p:nvPr/>
        </p:nvSpPr>
        <p:spPr>
          <a:xfrm>
            <a:off x="9023163" y="4542592"/>
            <a:ext cx="27359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Autonomous Tractors, Harvesters &amp; Robotics</a:t>
            </a:r>
            <a:endParaRPr lang="en-IN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A5AF00-13D2-B613-234B-5473EC807098}"/>
              </a:ext>
            </a:extLst>
          </p:cNvPr>
          <p:cNvSpPr txBox="1"/>
          <p:nvPr/>
        </p:nvSpPr>
        <p:spPr>
          <a:xfrm>
            <a:off x="9235021" y="5314772"/>
            <a:ext cx="2506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Blockchain-Enabled Traceability Platforms</a:t>
            </a:r>
            <a:endParaRPr lang="en-IN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1E4E4-AE2C-F1C9-4BA8-107AA6E86548}"/>
              </a:ext>
            </a:extLst>
          </p:cNvPr>
          <p:cNvSpPr txBox="1"/>
          <p:nvPr/>
        </p:nvSpPr>
        <p:spPr>
          <a:xfrm>
            <a:off x="16714680" y="2442162"/>
            <a:ext cx="582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55%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147A53-13B2-63C3-8542-0ECDBD4829EE}"/>
              </a:ext>
            </a:extLst>
          </p:cNvPr>
          <p:cNvSpPr txBox="1"/>
          <p:nvPr/>
        </p:nvSpPr>
        <p:spPr>
          <a:xfrm>
            <a:off x="16132038" y="3190327"/>
            <a:ext cx="6173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50%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A77671-E495-8B0B-20BB-B37FBDBDD50B}"/>
              </a:ext>
            </a:extLst>
          </p:cNvPr>
          <p:cNvSpPr txBox="1"/>
          <p:nvPr/>
        </p:nvSpPr>
        <p:spPr>
          <a:xfrm>
            <a:off x="15536169" y="3982210"/>
            <a:ext cx="615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45%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14B893-4942-1BBF-1392-5C70E71F195C}"/>
              </a:ext>
            </a:extLst>
          </p:cNvPr>
          <p:cNvSpPr txBox="1"/>
          <p:nvPr/>
        </p:nvSpPr>
        <p:spPr>
          <a:xfrm>
            <a:off x="11931597" y="4644061"/>
            <a:ext cx="754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12.5%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7B21D8-7396-B55E-A13A-1850997682F5}"/>
              </a:ext>
            </a:extLst>
          </p:cNvPr>
          <p:cNvSpPr txBox="1"/>
          <p:nvPr/>
        </p:nvSpPr>
        <p:spPr>
          <a:xfrm>
            <a:off x="12227969" y="6063615"/>
            <a:ext cx="800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17.5%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D4583F-55B2-4BB4-8A71-A94DAD4B8B82}"/>
              </a:ext>
            </a:extLst>
          </p:cNvPr>
          <p:cNvSpPr txBox="1"/>
          <p:nvPr/>
        </p:nvSpPr>
        <p:spPr>
          <a:xfrm>
            <a:off x="12201868" y="5339778"/>
            <a:ext cx="826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17.5%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62BF0C-3338-F9E7-97E7-83F0A373FC5C}"/>
              </a:ext>
            </a:extLst>
          </p:cNvPr>
          <p:cNvSpPr txBox="1"/>
          <p:nvPr/>
        </p:nvSpPr>
        <p:spPr>
          <a:xfrm>
            <a:off x="8711467" y="3880573"/>
            <a:ext cx="3047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Predictive Analytics &amp; Decision Support (AI Models)</a:t>
            </a:r>
            <a:endParaRPr lang="en-IN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52BBE2-8A69-9655-CA95-82290C7BD945}"/>
              </a:ext>
            </a:extLst>
          </p:cNvPr>
          <p:cNvSpPr txBox="1"/>
          <p:nvPr/>
        </p:nvSpPr>
        <p:spPr>
          <a:xfrm>
            <a:off x="8762312" y="5986538"/>
            <a:ext cx="2994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AI-Based Satellite Remote Sensing for Carbon </a:t>
            </a:r>
            <a:r>
              <a:rPr lang="en-US" sz="1600" b="1" dirty="0" err="1"/>
              <a:t>Footprinting</a:t>
            </a:r>
            <a:endParaRPr lang="en-IN" sz="1600" b="1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B36F6D-7109-F106-942C-460A983687A7}"/>
              </a:ext>
            </a:extLst>
          </p:cNvPr>
          <p:cNvCxnSpPr/>
          <p:nvPr/>
        </p:nvCxnSpPr>
        <p:spPr>
          <a:xfrm>
            <a:off x="8784754" y="1934408"/>
            <a:ext cx="0" cy="5495092"/>
          </a:xfrm>
          <a:prstGeom prst="line">
            <a:avLst/>
          </a:prstGeom>
          <a:ln w="38100">
            <a:solidFill>
              <a:srgbClr val="8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3DE939F-46DD-81C3-B1EB-FFE59B153D48}"/>
              </a:ext>
            </a:extLst>
          </p:cNvPr>
          <p:cNvSpPr txBox="1"/>
          <p:nvPr/>
        </p:nvSpPr>
        <p:spPr>
          <a:xfrm>
            <a:off x="11277600" y="6815435"/>
            <a:ext cx="4776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PROJECTED ADOPTION OF AI</a:t>
            </a:r>
            <a:endParaRPr lang="en-IN" sz="2400" b="1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A8E4EAE-909C-F346-142E-D4439DE839D6}"/>
              </a:ext>
            </a:extLst>
          </p:cNvPr>
          <p:cNvCxnSpPr>
            <a:cxnSpLocks/>
          </p:cNvCxnSpPr>
          <p:nvPr/>
        </p:nvCxnSpPr>
        <p:spPr>
          <a:xfrm>
            <a:off x="914400" y="7429500"/>
            <a:ext cx="16129740" cy="0"/>
          </a:xfrm>
          <a:prstGeom prst="line">
            <a:avLst/>
          </a:prstGeom>
          <a:ln w="38100">
            <a:solidFill>
              <a:srgbClr val="8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D326A16-8720-FBF3-564A-6E05627F438E}"/>
              </a:ext>
            </a:extLst>
          </p:cNvPr>
          <p:cNvSpPr txBox="1"/>
          <p:nvPr/>
        </p:nvSpPr>
        <p:spPr>
          <a:xfrm>
            <a:off x="7038234" y="7629854"/>
            <a:ext cx="34718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RESILIENT FACTORS</a:t>
            </a:r>
            <a:endParaRPr lang="en-IN" sz="2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F15BD9-D88F-6D6D-2226-16F98EC0354D}"/>
              </a:ext>
            </a:extLst>
          </p:cNvPr>
          <p:cNvSpPr txBox="1"/>
          <p:nvPr/>
        </p:nvSpPr>
        <p:spPr>
          <a:xfrm>
            <a:off x="2133600" y="8334727"/>
            <a:ext cx="3721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8D0000"/>
                </a:solidFill>
              </a:rPr>
              <a:t>Requires manual labor, contextual decisions, and real-time adaptation.</a:t>
            </a:r>
            <a:endParaRPr lang="en-IN" sz="1600" b="1" dirty="0">
              <a:solidFill>
                <a:srgbClr val="8D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F582BE-B82D-54C6-4416-A340A1356E6D}"/>
              </a:ext>
            </a:extLst>
          </p:cNvPr>
          <p:cNvSpPr txBox="1"/>
          <p:nvPr/>
        </p:nvSpPr>
        <p:spPr>
          <a:xfrm>
            <a:off x="7755560" y="8334728"/>
            <a:ext cx="3721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8D0000"/>
                </a:solidFill>
              </a:rPr>
              <a:t>Cost and the digital divide impede AI adoption.</a:t>
            </a:r>
            <a:endParaRPr lang="en-IN" sz="1600" b="1" dirty="0">
              <a:solidFill>
                <a:srgbClr val="8D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B7087A-C44C-A4A3-3ABF-709B51484A30}"/>
              </a:ext>
            </a:extLst>
          </p:cNvPr>
          <p:cNvSpPr txBox="1"/>
          <p:nvPr/>
        </p:nvSpPr>
        <p:spPr>
          <a:xfrm>
            <a:off x="13322301" y="8289286"/>
            <a:ext cx="3721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8D0000"/>
                </a:solidFill>
              </a:rPr>
              <a:t>Local knowledge and skills are irreplaceable, despite AI.</a:t>
            </a:r>
            <a:endParaRPr lang="en-IN" sz="1600" b="1" dirty="0">
              <a:solidFill>
                <a:srgbClr val="8D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099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3155-BB4C-B224-84BC-D2048C996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7">
            <a:extLst>
              <a:ext uri="{FF2B5EF4-FFF2-40B4-BE49-F238E27FC236}">
                <a16:creationId xmlns:a16="http://schemas.microsoft.com/office/drawing/2014/main" id="{D09EF21A-4E74-5670-665F-74F9C1B57DF9}"/>
              </a:ext>
            </a:extLst>
          </p:cNvPr>
          <p:cNvSpPr txBox="1"/>
          <p:nvPr/>
        </p:nvSpPr>
        <p:spPr>
          <a:xfrm>
            <a:off x="1028700" y="1028700"/>
            <a:ext cx="9120264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400" b="1" dirty="0"/>
              <a:t>Construction Sector Overview </a:t>
            </a:r>
            <a:endParaRPr lang="en-IN" sz="4400" b="1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CBD7D7E-BD92-8457-E8D7-6DDC3B9386F8}"/>
              </a:ext>
            </a:extLst>
          </p:cNvPr>
          <p:cNvSpPr/>
          <p:nvPr/>
        </p:nvSpPr>
        <p:spPr>
          <a:xfrm rot="6118718">
            <a:off x="941272" y="2315425"/>
            <a:ext cx="3783785" cy="3890496"/>
          </a:xfrm>
          <a:custGeom>
            <a:avLst/>
            <a:gdLst>
              <a:gd name="connsiteX0" fmla="*/ 199012 w 3154483"/>
              <a:gd name="connsiteY0" fmla="*/ 874734 h 3223146"/>
              <a:gd name="connsiteX1" fmla="*/ 284481 w 3154483"/>
              <a:gd name="connsiteY1" fmla="*/ 732022 h 3223146"/>
              <a:gd name="connsiteX2" fmla="*/ 304093 w 3154483"/>
              <a:gd name="connsiteY2" fmla="*/ 705506 h 3223146"/>
              <a:gd name="connsiteX3" fmla="*/ 1528273 w 3154483"/>
              <a:gd name="connsiteY3" fmla="*/ 1360167 h 3223146"/>
              <a:gd name="connsiteX4" fmla="*/ 1528274 w 3154483"/>
              <a:gd name="connsiteY4" fmla="*/ 1360167 h 3223146"/>
              <a:gd name="connsiteX5" fmla="*/ 1528274 w 3154483"/>
              <a:gd name="connsiteY5" fmla="*/ 5179 h 3223146"/>
              <a:gd name="connsiteX6" fmla="*/ 1594140 w 3154483"/>
              <a:gd name="connsiteY6" fmla="*/ 409 h 3223146"/>
              <a:gd name="connsiteX7" fmla="*/ 2343579 w 3154483"/>
              <a:gd name="connsiteY7" fmla="*/ 178771 h 3223146"/>
              <a:gd name="connsiteX8" fmla="*/ 3081914 w 3154483"/>
              <a:gd name="connsiteY8" fmla="*/ 2045046 h 3223146"/>
              <a:gd name="connsiteX9" fmla="*/ 3037874 w 3154483"/>
              <a:gd name="connsiteY9" fmla="*/ 2167465 h 3223146"/>
              <a:gd name="connsiteX10" fmla="*/ 1905673 w 3154483"/>
              <a:gd name="connsiteY10" fmla="*/ 1561992 h 3223146"/>
              <a:gd name="connsiteX11" fmla="*/ 3037873 w 3154483"/>
              <a:gd name="connsiteY11" fmla="*/ 2167465 h 3223146"/>
              <a:gd name="connsiteX12" fmla="*/ 3026708 w 3154483"/>
              <a:gd name="connsiteY12" fmla="*/ 2198498 h 3223146"/>
              <a:gd name="connsiteX13" fmla="*/ 2955470 w 3154483"/>
              <a:gd name="connsiteY13" fmla="*/ 2348820 h 3223146"/>
              <a:gd name="connsiteX14" fmla="*/ 1560343 w 3154483"/>
              <a:gd name="connsiteY14" fmla="*/ 3223146 h 3223146"/>
              <a:gd name="connsiteX15" fmla="*/ 1528273 w 3154483"/>
              <a:gd name="connsiteY15" fmla="*/ 3222288 h 3223146"/>
              <a:gd name="connsiteX16" fmla="*/ 1407596 w 3154483"/>
              <a:gd name="connsiteY16" fmla="*/ 3219062 h 3223146"/>
              <a:gd name="connsiteX17" fmla="*/ 810904 w 3154483"/>
              <a:gd name="connsiteY17" fmla="*/ 3044784 h 3223146"/>
              <a:gd name="connsiteX18" fmla="*/ 199012 w 3154483"/>
              <a:gd name="connsiteY18" fmla="*/ 874734 h 322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154483" h="3223146">
                <a:moveTo>
                  <a:pt x="199012" y="874734"/>
                </a:moveTo>
                <a:cubicBezTo>
                  <a:pt x="225465" y="825270"/>
                  <a:pt x="254014" y="777680"/>
                  <a:pt x="284481" y="732022"/>
                </a:cubicBezTo>
                <a:lnTo>
                  <a:pt x="304093" y="705506"/>
                </a:lnTo>
                <a:lnTo>
                  <a:pt x="1528273" y="1360167"/>
                </a:lnTo>
                <a:lnTo>
                  <a:pt x="1528274" y="1360167"/>
                </a:lnTo>
                <a:lnTo>
                  <a:pt x="1528274" y="5179"/>
                </a:lnTo>
                <a:lnTo>
                  <a:pt x="1594140" y="409"/>
                </a:lnTo>
                <a:cubicBezTo>
                  <a:pt x="1848413" y="-5459"/>
                  <a:pt x="2105712" y="51565"/>
                  <a:pt x="2343579" y="178771"/>
                </a:cubicBezTo>
                <a:cubicBezTo>
                  <a:pt x="3009606" y="534946"/>
                  <a:pt x="3302605" y="1323322"/>
                  <a:pt x="3081914" y="2045046"/>
                </a:cubicBezTo>
                <a:lnTo>
                  <a:pt x="3037874" y="2167465"/>
                </a:lnTo>
                <a:lnTo>
                  <a:pt x="1905673" y="1561992"/>
                </a:lnTo>
                <a:lnTo>
                  <a:pt x="3037873" y="2167465"/>
                </a:lnTo>
                <a:lnTo>
                  <a:pt x="3026708" y="2198498"/>
                </a:lnTo>
                <a:cubicBezTo>
                  <a:pt x="3005651" y="2249188"/>
                  <a:pt x="2981922" y="2299356"/>
                  <a:pt x="2955470" y="2348820"/>
                </a:cubicBezTo>
                <a:cubicBezTo>
                  <a:pt x="2664495" y="2892926"/>
                  <a:pt x="2119742" y="3210236"/>
                  <a:pt x="1560343" y="3223146"/>
                </a:cubicBezTo>
                <a:lnTo>
                  <a:pt x="1528273" y="3222288"/>
                </a:lnTo>
                <a:lnTo>
                  <a:pt x="1407596" y="3219062"/>
                </a:lnTo>
                <a:cubicBezTo>
                  <a:pt x="1203928" y="3203397"/>
                  <a:pt x="1001198" y="3146548"/>
                  <a:pt x="810904" y="3044784"/>
                </a:cubicBezTo>
                <a:cubicBezTo>
                  <a:pt x="49729" y="2637726"/>
                  <a:pt x="-224224" y="1666161"/>
                  <a:pt x="199012" y="87473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104385D-471C-65A9-D293-2458CCEA2FF8}"/>
              </a:ext>
            </a:extLst>
          </p:cNvPr>
          <p:cNvSpPr/>
          <p:nvPr/>
        </p:nvSpPr>
        <p:spPr>
          <a:xfrm rot="6141326">
            <a:off x="3535584" y="2877712"/>
            <a:ext cx="1408522" cy="1605326"/>
          </a:xfrm>
          <a:custGeom>
            <a:avLst/>
            <a:gdLst>
              <a:gd name="connsiteX0" fmla="*/ 0 w 1224180"/>
              <a:gd name="connsiteY0" fmla="*/ 700328 h 1354989"/>
              <a:gd name="connsiteX1" fmla="*/ 77364 w 1224180"/>
              <a:gd name="connsiteY1" fmla="*/ 595729 h 1354989"/>
              <a:gd name="connsiteX2" fmla="*/ 1138025 w 1224180"/>
              <a:gd name="connsiteY2" fmla="*/ 6239 h 1354989"/>
              <a:gd name="connsiteX3" fmla="*/ 1224180 w 1224180"/>
              <a:gd name="connsiteY3" fmla="*/ 0 h 1354989"/>
              <a:gd name="connsiteX4" fmla="*/ 1224180 w 1224180"/>
              <a:gd name="connsiteY4" fmla="*/ 1354989 h 1354989"/>
              <a:gd name="connsiteX5" fmla="*/ 0 w 1224180"/>
              <a:gd name="connsiteY5" fmla="*/ 700328 h 135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4180" h="1354989">
                <a:moveTo>
                  <a:pt x="0" y="700328"/>
                </a:moveTo>
                <a:lnTo>
                  <a:pt x="77364" y="595729"/>
                </a:lnTo>
                <a:cubicBezTo>
                  <a:pt x="350347" y="261860"/>
                  <a:pt x="734564" y="55413"/>
                  <a:pt x="1138025" y="6239"/>
                </a:cubicBezTo>
                <a:lnTo>
                  <a:pt x="1224180" y="0"/>
                </a:lnTo>
                <a:lnTo>
                  <a:pt x="1224180" y="1354989"/>
                </a:lnTo>
                <a:lnTo>
                  <a:pt x="0" y="700328"/>
                </a:lnTo>
                <a:close/>
              </a:path>
            </a:pathLst>
          </a:custGeom>
          <a:solidFill>
            <a:srgbClr val="8D0000"/>
          </a:solidFill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6C2F4B-069C-8196-01C6-785DAF32ADF5}"/>
              </a:ext>
            </a:extLst>
          </p:cNvPr>
          <p:cNvSpPr txBox="1"/>
          <p:nvPr/>
        </p:nvSpPr>
        <p:spPr>
          <a:xfrm>
            <a:off x="1245163" y="3543300"/>
            <a:ext cx="145111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Global Construction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Market Size (2025) :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$12 Trillion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714899FA-6123-8182-5457-3FD321DCCBB3}"/>
              </a:ext>
            </a:extLst>
          </p:cNvPr>
          <p:cNvSpPr/>
          <p:nvPr/>
        </p:nvSpPr>
        <p:spPr>
          <a:xfrm rot="18478205">
            <a:off x="4795559" y="2913703"/>
            <a:ext cx="1586548" cy="1812824"/>
          </a:xfrm>
          <a:prstGeom prst="arc">
            <a:avLst/>
          </a:prstGeom>
          <a:ln w="38100">
            <a:solidFill>
              <a:srgbClr val="8D0000"/>
            </a:solidFill>
            <a:prstDash val="lgDashDot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1A206-99B5-3C6B-BA1B-FD27D6DF46D0}"/>
              </a:ext>
            </a:extLst>
          </p:cNvPr>
          <p:cNvSpPr txBox="1"/>
          <p:nvPr/>
        </p:nvSpPr>
        <p:spPr>
          <a:xfrm>
            <a:off x="5836258" y="3250728"/>
            <a:ext cx="181255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AI in Construction Market Projected (2025) </a:t>
            </a:r>
            <a:r>
              <a:rPr lang="en-US" sz="1400" dirty="0"/>
              <a:t>:</a:t>
            </a:r>
            <a:br>
              <a:rPr lang="en-US" dirty="0"/>
            </a:br>
            <a:r>
              <a:rPr lang="en-US" sz="2000" b="1" dirty="0"/>
              <a:t>$4.7 Billion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9652CF-1C00-2065-CE88-0F6EDFCE5259}"/>
              </a:ext>
            </a:extLst>
          </p:cNvPr>
          <p:cNvSpPr txBox="1"/>
          <p:nvPr/>
        </p:nvSpPr>
        <p:spPr>
          <a:xfrm>
            <a:off x="1028700" y="6543502"/>
            <a:ext cx="4591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*AI in construction Market is projected to grow at 26-30% CAGR and reach approximately $17 Billion by 2029</a:t>
            </a:r>
            <a:endParaRPr lang="en-IN" i="1" dirty="0"/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B9C72930-7E3C-A5F2-1557-A66744593004}"/>
              </a:ext>
            </a:extLst>
          </p:cNvPr>
          <p:cNvGrpSpPr/>
          <p:nvPr/>
        </p:nvGrpSpPr>
        <p:grpSpPr>
          <a:xfrm>
            <a:off x="9144000" y="0"/>
            <a:ext cx="9182487" cy="10287000"/>
            <a:chOff x="0" y="0"/>
            <a:chExt cx="2418433" cy="2709333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8A56FE38-C90D-9BD8-A8AA-97D545CAA192}"/>
                </a:ext>
              </a:extLst>
            </p:cNvPr>
            <p:cNvSpPr/>
            <p:nvPr/>
          </p:nvSpPr>
          <p:spPr>
            <a:xfrm>
              <a:off x="0" y="0"/>
              <a:ext cx="2418433" cy="2709333"/>
            </a:xfrm>
            <a:custGeom>
              <a:avLst/>
              <a:gdLst/>
              <a:ahLst/>
              <a:cxnLst/>
              <a:rect l="l" t="t" r="r" b="b"/>
              <a:pathLst>
                <a:path w="2418433" h="2709333">
                  <a:moveTo>
                    <a:pt x="0" y="0"/>
                  </a:moveTo>
                  <a:lnTo>
                    <a:pt x="2418433" y="0"/>
                  </a:lnTo>
                  <a:lnTo>
                    <a:pt x="24184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94702800-3B53-2117-3F90-5CA65332FAAB}"/>
                </a:ext>
              </a:extLst>
            </p:cNvPr>
            <p:cNvSpPr txBox="1"/>
            <p:nvPr/>
          </p:nvSpPr>
          <p:spPr>
            <a:xfrm>
              <a:off x="0" y="-9525"/>
              <a:ext cx="2418433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6"/>
                </a:lnSpc>
              </a:pPr>
              <a:endParaRPr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17D58B-B5E2-1CB2-9BAA-6F1606C40B62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D9B3054C-341F-1648-57D2-20F6998C39AF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1672" b="-21632"/>
              </a:stretch>
            </a:blipFill>
          </p:spPr>
        </p:sp>
      </p:grpSp>
      <p:sp>
        <p:nvSpPr>
          <p:cNvPr id="20" name="Freeform 6">
            <a:extLst>
              <a:ext uri="{FF2B5EF4-FFF2-40B4-BE49-F238E27FC236}">
                <a16:creationId xmlns:a16="http://schemas.microsoft.com/office/drawing/2014/main" id="{D5860ACB-C361-5595-C0EA-6D47F59B328A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89C64CB7-7686-F982-DC73-2FCE5FF2E5D8}"/>
              </a:ext>
            </a:extLst>
          </p:cNvPr>
          <p:cNvSpPr txBox="1"/>
          <p:nvPr/>
        </p:nvSpPr>
        <p:spPr>
          <a:xfrm>
            <a:off x="2819400" y="7745968"/>
            <a:ext cx="26967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MARKET OVERVIEW</a:t>
            </a:r>
            <a:endParaRPr lang="en-IN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433200-0AA8-5650-06A2-3BB8AED05F47}"/>
              </a:ext>
            </a:extLst>
          </p:cNvPr>
          <p:cNvSpPr txBox="1"/>
          <p:nvPr/>
        </p:nvSpPr>
        <p:spPr>
          <a:xfrm>
            <a:off x="9824281" y="2653014"/>
            <a:ext cx="782162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Overall Workflow Penetration: Approximately 1.4%, which is among the lowest of all tracked sectors.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Subsectors that AI might penetrate :</a:t>
            </a:r>
            <a:r>
              <a:rPr lang="en-IN" sz="2000" dirty="0"/>
              <a:t>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Design, Architecture, &amp; Planning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On-site Automation &amp; Robotics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IN" sz="2000" dirty="0"/>
              <a:t>Safety &amp; Regulatory</a:t>
            </a:r>
            <a:br>
              <a:rPr lang="en-IN" sz="2000" dirty="0"/>
            </a:br>
            <a:endParaRPr lang="en-IN" sz="20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Concentration: Practical AI deployment is limited and concentrated in: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Larger firms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Urban areas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New builds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 dirty="0"/>
              <a:t>Resilience  factors: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The sector's physical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fragmented nature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high reliance on skilled manual labor 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2000" dirty="0"/>
              <a:t>human oversight slow full automation.</a:t>
            </a:r>
            <a:endParaRPr lang="en-IN" sz="2000" dirty="0"/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A6077B8D-090E-763B-0227-577E9401FAE8}"/>
              </a:ext>
            </a:extLst>
          </p:cNvPr>
          <p:cNvSpPr txBox="1"/>
          <p:nvPr/>
        </p:nvSpPr>
        <p:spPr>
          <a:xfrm>
            <a:off x="12338253" y="1965075"/>
            <a:ext cx="26967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SECTOR LANDSCAPE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119783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BD3B-9A23-B06A-833C-E5337EFEF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5761DD87-EA4B-AC57-4D38-CAF74D9FCDE6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F083E8-42FA-940E-FF1C-F2E0E48BD3F8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4937818-345F-6D5D-21CF-0938ABE91B2E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sp>
        <p:nvSpPr>
          <p:cNvPr id="5" name="TextBox 7">
            <a:extLst>
              <a:ext uri="{FF2B5EF4-FFF2-40B4-BE49-F238E27FC236}">
                <a16:creationId xmlns:a16="http://schemas.microsoft.com/office/drawing/2014/main" id="{759BA37D-5860-2843-A266-AE23618CF118}"/>
              </a:ext>
            </a:extLst>
          </p:cNvPr>
          <p:cNvSpPr txBox="1"/>
          <p:nvPr/>
        </p:nvSpPr>
        <p:spPr>
          <a:xfrm>
            <a:off x="1028700" y="1028700"/>
            <a:ext cx="116967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b="1" dirty="0"/>
              <a:t>Arts, Entertainment &amp; Creative </a:t>
            </a:r>
            <a:r>
              <a:rPr lang="en-US" sz="4400" b="1" dirty="0"/>
              <a:t>Sector Overview </a:t>
            </a:r>
            <a:endParaRPr lang="en-IN" sz="4400" b="1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805E9B0-3EAA-D580-9186-101914BDD0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704008"/>
              </p:ext>
            </p:extLst>
          </p:nvPr>
        </p:nvGraphicFramePr>
        <p:xfrm>
          <a:off x="1376363" y="2485549"/>
          <a:ext cx="7059930" cy="57821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7">
            <a:extLst>
              <a:ext uri="{FF2B5EF4-FFF2-40B4-BE49-F238E27FC236}">
                <a16:creationId xmlns:a16="http://schemas.microsoft.com/office/drawing/2014/main" id="{619308AA-568C-2ABA-84A3-FC2B61E6E734}"/>
              </a:ext>
            </a:extLst>
          </p:cNvPr>
          <p:cNvSpPr txBox="1"/>
          <p:nvPr/>
        </p:nvSpPr>
        <p:spPr>
          <a:xfrm>
            <a:off x="2891220" y="8481082"/>
            <a:ext cx="414299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/>
              <a:t>AI ADOPTION RATE ACROSS DIFFERENT SECTORS </a:t>
            </a:r>
            <a:endParaRPr lang="en-IN" sz="2400" b="1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FC6CA35-E0F5-08C4-E7AC-CC5D0BDD02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7183892"/>
              </p:ext>
            </p:extLst>
          </p:nvPr>
        </p:nvGraphicFramePr>
        <p:xfrm>
          <a:off x="9296400" y="2823924"/>
          <a:ext cx="7620000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Box 7">
            <a:extLst>
              <a:ext uri="{FF2B5EF4-FFF2-40B4-BE49-F238E27FC236}">
                <a16:creationId xmlns:a16="http://schemas.microsoft.com/office/drawing/2014/main" id="{83277F5C-1651-0F70-C2EC-A2AA289CBC68}"/>
              </a:ext>
            </a:extLst>
          </p:cNvPr>
          <p:cNvSpPr txBox="1"/>
          <p:nvPr/>
        </p:nvSpPr>
        <p:spPr>
          <a:xfrm>
            <a:off x="11358563" y="8443436"/>
            <a:ext cx="414299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/>
              <a:t>EXPECTED MARKET SIZE OF CREATIVE SECTOR</a:t>
            </a:r>
            <a:endParaRPr lang="en-IN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1212DE-6F5C-37EA-E8AA-34B87A0139F6}"/>
              </a:ext>
            </a:extLst>
          </p:cNvPr>
          <p:cNvSpPr txBox="1"/>
          <p:nvPr/>
        </p:nvSpPr>
        <p:spPr>
          <a:xfrm>
            <a:off x="9272567" y="7773769"/>
            <a:ext cx="7191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*Market size in Trillion $. AI is expected to automate only 26% of the total market by 2029.</a:t>
            </a:r>
            <a:endParaRPr lang="en-IN" i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C7FB47-DE09-2DC1-62E4-FCC4F51948A7}"/>
              </a:ext>
            </a:extLst>
          </p:cNvPr>
          <p:cNvCxnSpPr>
            <a:cxnSpLocks/>
          </p:cNvCxnSpPr>
          <p:nvPr/>
        </p:nvCxnSpPr>
        <p:spPr>
          <a:xfrm>
            <a:off x="8941917" y="1934408"/>
            <a:ext cx="0" cy="7781092"/>
          </a:xfrm>
          <a:prstGeom prst="line">
            <a:avLst/>
          </a:prstGeom>
          <a:ln w="38100">
            <a:solidFill>
              <a:srgbClr val="8D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973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6696-54F2-77AF-BD04-A6213818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C16CA67E-F13A-4C07-29F1-95B6B0055C9B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4C99D3-36ED-B124-9A4A-286F128D44B2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49174DE-4326-CA9A-82B1-7757AD60AB6D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grpSp>
        <p:nvGrpSpPr>
          <p:cNvPr id="5" name="Group 2">
            <a:extLst>
              <a:ext uri="{FF2B5EF4-FFF2-40B4-BE49-F238E27FC236}">
                <a16:creationId xmlns:a16="http://schemas.microsoft.com/office/drawing/2014/main" id="{4C3D7DCB-58F1-F1EB-77B4-488CABC5E549}"/>
              </a:ext>
            </a:extLst>
          </p:cNvPr>
          <p:cNvGrpSpPr/>
          <p:nvPr/>
        </p:nvGrpSpPr>
        <p:grpSpPr>
          <a:xfrm>
            <a:off x="9144000" y="0"/>
            <a:ext cx="9182487" cy="10287000"/>
            <a:chOff x="0" y="0"/>
            <a:chExt cx="2418433" cy="2709333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AC653135-CA49-269A-688C-357B66CA7EF0}"/>
                </a:ext>
              </a:extLst>
            </p:cNvPr>
            <p:cNvSpPr/>
            <p:nvPr/>
          </p:nvSpPr>
          <p:spPr>
            <a:xfrm>
              <a:off x="0" y="0"/>
              <a:ext cx="2418433" cy="2709333"/>
            </a:xfrm>
            <a:custGeom>
              <a:avLst/>
              <a:gdLst/>
              <a:ahLst/>
              <a:cxnLst/>
              <a:rect l="l" t="t" r="r" b="b"/>
              <a:pathLst>
                <a:path w="2418433" h="2709333">
                  <a:moveTo>
                    <a:pt x="0" y="0"/>
                  </a:moveTo>
                  <a:lnTo>
                    <a:pt x="2418433" y="0"/>
                  </a:lnTo>
                  <a:lnTo>
                    <a:pt x="24184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F85B0233-0B12-1308-98FF-01CE0D6D193D}"/>
                </a:ext>
              </a:extLst>
            </p:cNvPr>
            <p:cNvSpPr txBox="1"/>
            <p:nvPr/>
          </p:nvSpPr>
          <p:spPr>
            <a:xfrm>
              <a:off x="0" y="-9525"/>
              <a:ext cx="2418433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6"/>
                </a:lnSpc>
              </a:pPr>
              <a:endParaRPr/>
            </a:p>
          </p:txBody>
        </p:sp>
      </p:grpSp>
      <p:sp>
        <p:nvSpPr>
          <p:cNvPr id="8" name="Freeform 6">
            <a:extLst>
              <a:ext uri="{FF2B5EF4-FFF2-40B4-BE49-F238E27FC236}">
                <a16:creationId xmlns:a16="http://schemas.microsoft.com/office/drawing/2014/main" id="{0ECACA4D-8CD5-DF63-A1D0-72011D00A8B3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B8E566-8F8E-5418-3717-A05688F2694C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DA32939F-7461-E514-CDB7-4E4EFC630750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sp>
        <p:nvSpPr>
          <p:cNvPr id="11" name="TextBox 7">
            <a:extLst>
              <a:ext uri="{FF2B5EF4-FFF2-40B4-BE49-F238E27FC236}">
                <a16:creationId xmlns:a16="http://schemas.microsoft.com/office/drawing/2014/main" id="{1BC87B2A-0232-7D40-B63B-0F6F682C5AB0}"/>
              </a:ext>
            </a:extLst>
          </p:cNvPr>
          <p:cNvSpPr txBox="1"/>
          <p:nvPr/>
        </p:nvSpPr>
        <p:spPr>
          <a:xfrm>
            <a:off x="11432876" y="7529434"/>
            <a:ext cx="414299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/>
              <a:t>AI PENETRATION RATE ACROSS DIFFERENT SECTORS </a:t>
            </a:r>
            <a:endParaRPr lang="en-IN" sz="2400" b="1" dirty="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45A97F0-8129-D1FE-4184-6D9090B99E47}"/>
              </a:ext>
            </a:extLst>
          </p:cNvPr>
          <p:cNvSpPr txBox="1"/>
          <p:nvPr/>
        </p:nvSpPr>
        <p:spPr>
          <a:xfrm>
            <a:off x="1028699" y="1028700"/>
            <a:ext cx="12174589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/>
              <a:t>Social Work, Personal Services &amp; Human Resources Sector Overview </a:t>
            </a:r>
            <a:endParaRPr lang="en-IN" sz="4400" b="1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A62A5D7-B119-19B2-13EC-740EE8826B5B}"/>
              </a:ext>
            </a:extLst>
          </p:cNvPr>
          <p:cNvSpPr/>
          <p:nvPr/>
        </p:nvSpPr>
        <p:spPr>
          <a:xfrm rot="8418979">
            <a:off x="11732811" y="3017688"/>
            <a:ext cx="3543125" cy="3890496"/>
          </a:xfrm>
          <a:custGeom>
            <a:avLst/>
            <a:gdLst>
              <a:gd name="connsiteX0" fmla="*/ 0 w 3543125"/>
              <a:gd name="connsiteY0" fmla="*/ 2824229 h 3890496"/>
              <a:gd name="connsiteX1" fmla="*/ 1518618 w 3543125"/>
              <a:gd name="connsiteY1" fmla="*/ 1799532 h 3890496"/>
              <a:gd name="connsiteX2" fmla="*/ 1587363 w 3543125"/>
              <a:gd name="connsiteY2" fmla="*/ 1639026 h 3890496"/>
              <a:gd name="connsiteX3" fmla="*/ 1592495 w 3543125"/>
              <a:gd name="connsiteY3" fmla="*/ 1641788 h 3890496"/>
              <a:gd name="connsiteX4" fmla="*/ 1592496 w 3543125"/>
              <a:gd name="connsiteY4" fmla="*/ 1641788 h 3890496"/>
              <a:gd name="connsiteX5" fmla="*/ 1592496 w 3543125"/>
              <a:gd name="connsiteY5" fmla="*/ 1627040 h 3890496"/>
              <a:gd name="connsiteX6" fmla="*/ 1592497 w 3543125"/>
              <a:gd name="connsiteY6" fmla="*/ 1627039 h 3890496"/>
              <a:gd name="connsiteX7" fmla="*/ 1592498 w 3543125"/>
              <a:gd name="connsiteY7" fmla="*/ 6251 h 3890496"/>
              <a:gd name="connsiteX8" fmla="*/ 1671503 w 3543125"/>
              <a:gd name="connsiteY8" fmla="*/ 494 h 3890496"/>
              <a:gd name="connsiteX9" fmla="*/ 2128357 w 3543125"/>
              <a:gd name="connsiteY9" fmla="*/ 47904 h 3890496"/>
              <a:gd name="connsiteX10" fmla="*/ 2252591 w 3543125"/>
              <a:gd name="connsiteY10" fmla="*/ 85852 h 3890496"/>
              <a:gd name="connsiteX11" fmla="*/ 2352512 w 3543125"/>
              <a:gd name="connsiteY11" fmla="*/ 116374 h 3890496"/>
              <a:gd name="connsiteX12" fmla="*/ 2570450 w 3543125"/>
              <a:gd name="connsiteY12" fmla="*/ 215785 h 3890496"/>
              <a:gd name="connsiteX13" fmla="*/ 3456079 w 3543125"/>
              <a:gd name="connsiteY13" fmla="*/ 2468471 h 3890496"/>
              <a:gd name="connsiteX14" fmla="*/ 3403253 w 3543125"/>
              <a:gd name="connsiteY14" fmla="*/ 2616237 h 3890496"/>
              <a:gd name="connsiteX15" fmla="*/ 2045185 w 3543125"/>
              <a:gd name="connsiteY15" fmla="*/ 1885401 h 3890496"/>
              <a:gd name="connsiteX16" fmla="*/ 3403252 w 3543125"/>
              <a:gd name="connsiteY16" fmla="*/ 2616237 h 3890496"/>
              <a:gd name="connsiteX17" fmla="*/ 3389860 w 3543125"/>
              <a:gd name="connsiteY17" fmla="*/ 2653695 h 3890496"/>
              <a:gd name="connsiteX18" fmla="*/ 3304410 w 3543125"/>
              <a:gd name="connsiteY18" fmla="*/ 2835141 h 3890496"/>
              <a:gd name="connsiteX19" fmla="*/ 1630963 w 3543125"/>
              <a:gd name="connsiteY19" fmla="*/ 3890496 h 3890496"/>
              <a:gd name="connsiteX20" fmla="*/ 1592496 w 3543125"/>
              <a:gd name="connsiteY20" fmla="*/ 3889460 h 3890496"/>
              <a:gd name="connsiteX21" fmla="*/ 1447744 w 3543125"/>
              <a:gd name="connsiteY21" fmla="*/ 3885566 h 3890496"/>
              <a:gd name="connsiteX22" fmla="*/ 905789 w 3543125"/>
              <a:gd name="connsiteY22" fmla="*/ 3757235 h 3890496"/>
              <a:gd name="connsiteX23" fmla="*/ 811031 w 3543125"/>
              <a:gd name="connsiteY23" fmla="*/ 3712504 h 3890496"/>
              <a:gd name="connsiteX24" fmla="*/ 805524 w 3543125"/>
              <a:gd name="connsiteY24" fmla="*/ 3725363 h 3890496"/>
              <a:gd name="connsiteX25" fmla="*/ 654531 w 3543125"/>
              <a:gd name="connsiteY25" fmla="*/ 3633552 h 3890496"/>
              <a:gd name="connsiteX26" fmla="*/ 51494 w 3543125"/>
              <a:gd name="connsiteY26" fmla="*/ 2940626 h 3890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543125" h="3890496">
                <a:moveTo>
                  <a:pt x="0" y="2824229"/>
                </a:moveTo>
                <a:lnTo>
                  <a:pt x="1518618" y="1799532"/>
                </a:lnTo>
                <a:lnTo>
                  <a:pt x="1587363" y="1639026"/>
                </a:lnTo>
                <a:lnTo>
                  <a:pt x="1592495" y="1641788"/>
                </a:lnTo>
                <a:lnTo>
                  <a:pt x="1592496" y="1641788"/>
                </a:lnTo>
                <a:lnTo>
                  <a:pt x="1592496" y="1627040"/>
                </a:lnTo>
                <a:lnTo>
                  <a:pt x="1592497" y="1627039"/>
                </a:lnTo>
                <a:lnTo>
                  <a:pt x="1592498" y="6251"/>
                </a:lnTo>
                <a:lnTo>
                  <a:pt x="1671503" y="494"/>
                </a:lnTo>
                <a:cubicBezTo>
                  <a:pt x="1824003" y="-3048"/>
                  <a:pt x="1977410" y="12389"/>
                  <a:pt x="2128357" y="47904"/>
                </a:cubicBezTo>
                <a:lnTo>
                  <a:pt x="2252591" y="85852"/>
                </a:lnTo>
                <a:lnTo>
                  <a:pt x="2352512" y="116374"/>
                </a:lnTo>
                <a:cubicBezTo>
                  <a:pt x="2426333" y="144308"/>
                  <a:pt x="2499120" y="177399"/>
                  <a:pt x="2570450" y="215785"/>
                </a:cubicBezTo>
                <a:cubicBezTo>
                  <a:pt x="3369346" y="645706"/>
                  <a:pt x="3720797" y="1597315"/>
                  <a:pt x="3456079" y="2468471"/>
                </a:cubicBezTo>
                <a:lnTo>
                  <a:pt x="3403253" y="2616237"/>
                </a:lnTo>
                <a:lnTo>
                  <a:pt x="2045185" y="1885401"/>
                </a:lnTo>
                <a:lnTo>
                  <a:pt x="3403252" y="2616237"/>
                </a:lnTo>
                <a:lnTo>
                  <a:pt x="3389860" y="2653695"/>
                </a:lnTo>
                <a:cubicBezTo>
                  <a:pt x="3364602" y="2714881"/>
                  <a:pt x="3336140" y="2775436"/>
                  <a:pt x="3304410" y="2835141"/>
                </a:cubicBezTo>
                <a:cubicBezTo>
                  <a:pt x="2955387" y="3491905"/>
                  <a:pt x="2301959" y="3874913"/>
                  <a:pt x="1630963" y="3890496"/>
                </a:cubicBezTo>
                <a:lnTo>
                  <a:pt x="1592496" y="3889460"/>
                </a:lnTo>
                <a:lnTo>
                  <a:pt x="1447744" y="3885566"/>
                </a:lnTo>
                <a:cubicBezTo>
                  <a:pt x="1264519" y="3871385"/>
                  <a:pt x="1081929" y="3829242"/>
                  <a:pt x="905789" y="3757235"/>
                </a:cubicBezTo>
                <a:lnTo>
                  <a:pt x="811031" y="3712504"/>
                </a:lnTo>
                <a:lnTo>
                  <a:pt x="805524" y="3725363"/>
                </a:lnTo>
                <a:lnTo>
                  <a:pt x="654531" y="3633552"/>
                </a:lnTo>
                <a:cubicBezTo>
                  <a:pt x="392348" y="3454490"/>
                  <a:pt x="188773" y="3214371"/>
                  <a:pt x="51494" y="294062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6330C52-D5D3-D75D-83C8-EB3ADDE4703F}"/>
              </a:ext>
            </a:extLst>
          </p:cNvPr>
          <p:cNvSpPr/>
          <p:nvPr/>
        </p:nvSpPr>
        <p:spPr>
          <a:xfrm rot="8418979">
            <a:off x="13518956" y="3360965"/>
            <a:ext cx="1825807" cy="1914408"/>
          </a:xfrm>
          <a:custGeom>
            <a:avLst/>
            <a:gdLst>
              <a:gd name="connsiteX0" fmla="*/ 31513 w 1825807"/>
              <a:gd name="connsiteY0" fmla="*/ 1507675 h 1914408"/>
              <a:gd name="connsiteX1" fmla="*/ 238715 w 1825807"/>
              <a:gd name="connsiteY1" fmla="*/ 204267 h 1914408"/>
              <a:gd name="connsiteX2" fmla="*/ 341234 w 1825807"/>
              <a:gd name="connsiteY2" fmla="*/ 32006 h 1914408"/>
              <a:gd name="connsiteX3" fmla="*/ 364759 w 1825807"/>
              <a:gd name="connsiteY3" fmla="*/ 0 h 1914408"/>
              <a:gd name="connsiteX4" fmla="*/ 1825807 w 1825807"/>
              <a:gd name="connsiteY4" fmla="*/ 786253 h 1914408"/>
              <a:gd name="connsiteX5" fmla="*/ 153862 w 1825807"/>
              <a:gd name="connsiteY5" fmla="*/ 1914408 h 1914408"/>
              <a:gd name="connsiteX6" fmla="*/ 131006 w 1825807"/>
              <a:gd name="connsiteY6" fmla="*/ 1862743 h 1914408"/>
              <a:gd name="connsiteX7" fmla="*/ 31513 w 1825807"/>
              <a:gd name="connsiteY7" fmla="*/ 1507675 h 191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5807" h="1914408">
                <a:moveTo>
                  <a:pt x="31513" y="1507675"/>
                </a:moveTo>
                <a:cubicBezTo>
                  <a:pt x="-45428" y="1081765"/>
                  <a:pt x="16610" y="622207"/>
                  <a:pt x="238715" y="204267"/>
                </a:cubicBezTo>
                <a:cubicBezTo>
                  <a:pt x="270445" y="144560"/>
                  <a:pt x="304690" y="87118"/>
                  <a:pt x="341234" y="32006"/>
                </a:cubicBezTo>
                <a:lnTo>
                  <a:pt x="364759" y="0"/>
                </a:lnTo>
                <a:lnTo>
                  <a:pt x="1825807" y="786253"/>
                </a:lnTo>
                <a:lnTo>
                  <a:pt x="153862" y="1914408"/>
                </a:lnTo>
                <a:lnTo>
                  <a:pt x="131006" y="1862743"/>
                </a:lnTo>
                <a:cubicBezTo>
                  <a:pt x="86824" y="1748305"/>
                  <a:pt x="53496" y="1629363"/>
                  <a:pt x="31513" y="150767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F06F384-5037-238D-E50B-77E16853ED7A}"/>
              </a:ext>
            </a:extLst>
          </p:cNvPr>
          <p:cNvSpPr/>
          <p:nvPr/>
        </p:nvSpPr>
        <p:spPr>
          <a:xfrm rot="8441587">
            <a:off x="14298236" y="4441525"/>
            <a:ext cx="1408522" cy="1605326"/>
          </a:xfrm>
          <a:custGeom>
            <a:avLst/>
            <a:gdLst>
              <a:gd name="connsiteX0" fmla="*/ 0 w 1224180"/>
              <a:gd name="connsiteY0" fmla="*/ 700328 h 1354989"/>
              <a:gd name="connsiteX1" fmla="*/ 77364 w 1224180"/>
              <a:gd name="connsiteY1" fmla="*/ 595729 h 1354989"/>
              <a:gd name="connsiteX2" fmla="*/ 1138025 w 1224180"/>
              <a:gd name="connsiteY2" fmla="*/ 6239 h 1354989"/>
              <a:gd name="connsiteX3" fmla="*/ 1224180 w 1224180"/>
              <a:gd name="connsiteY3" fmla="*/ 0 h 1354989"/>
              <a:gd name="connsiteX4" fmla="*/ 1224180 w 1224180"/>
              <a:gd name="connsiteY4" fmla="*/ 1354989 h 1354989"/>
              <a:gd name="connsiteX5" fmla="*/ 0 w 1224180"/>
              <a:gd name="connsiteY5" fmla="*/ 700328 h 1354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4180" h="1354989">
                <a:moveTo>
                  <a:pt x="0" y="700328"/>
                </a:moveTo>
                <a:lnTo>
                  <a:pt x="77364" y="595729"/>
                </a:lnTo>
                <a:cubicBezTo>
                  <a:pt x="350347" y="261860"/>
                  <a:pt x="734564" y="55413"/>
                  <a:pt x="1138025" y="6239"/>
                </a:cubicBezTo>
                <a:lnTo>
                  <a:pt x="1224180" y="0"/>
                </a:lnTo>
                <a:lnTo>
                  <a:pt x="1224180" y="1354989"/>
                </a:lnTo>
                <a:lnTo>
                  <a:pt x="0" y="700328"/>
                </a:lnTo>
                <a:close/>
              </a:path>
            </a:pathLst>
          </a:custGeom>
          <a:solidFill>
            <a:srgbClr val="8D0000"/>
          </a:solidFill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98978BED-A4BA-C540-892A-B9BA02911560}"/>
              </a:ext>
            </a:extLst>
          </p:cNvPr>
          <p:cNvSpPr/>
          <p:nvPr/>
        </p:nvSpPr>
        <p:spPr>
          <a:xfrm rot="18508474">
            <a:off x="9917072" y="4008352"/>
            <a:ext cx="2106796" cy="2326804"/>
          </a:xfrm>
          <a:prstGeom prst="arc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354264-5B43-F062-82AE-9A2D96C2EC2A}"/>
              </a:ext>
            </a:extLst>
          </p:cNvPr>
          <p:cNvSpPr txBox="1"/>
          <p:nvPr/>
        </p:nvSpPr>
        <p:spPr>
          <a:xfrm>
            <a:off x="9154749" y="4437420"/>
            <a:ext cx="2046651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effectLst/>
              </a:rPr>
              <a:t>HR Gen AI Adoption Growth projected (2025) : </a:t>
            </a:r>
          </a:p>
          <a:p>
            <a:pPr>
              <a:buNone/>
            </a:pPr>
            <a:r>
              <a:rPr lang="en-IN" sz="2000" b="1" dirty="0"/>
              <a:t>61% of workflow Automation</a:t>
            </a:r>
            <a:endParaRPr lang="en-IN" sz="2000" b="1" dirty="0">
              <a:effectLst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7CF2C40-33F7-605F-AFCB-93391A0B35B7}"/>
              </a:ext>
            </a:extLst>
          </p:cNvPr>
          <p:cNvSpPr/>
          <p:nvPr/>
        </p:nvSpPr>
        <p:spPr>
          <a:xfrm rot="18791650">
            <a:off x="14845740" y="3271284"/>
            <a:ext cx="2106796" cy="2326804"/>
          </a:xfrm>
          <a:prstGeom prst="arc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30B141-6EF2-E3A6-C6FD-E3A6835C74B9}"/>
              </a:ext>
            </a:extLst>
          </p:cNvPr>
          <p:cNvSpPr txBox="1"/>
          <p:nvPr/>
        </p:nvSpPr>
        <p:spPr>
          <a:xfrm>
            <a:off x="15584249" y="3674448"/>
            <a:ext cx="2627551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Personal Services Gen AI Adoption Growth projected (2025) : </a:t>
            </a:r>
          </a:p>
          <a:p>
            <a:pPr>
              <a:buNone/>
            </a:pPr>
            <a:r>
              <a:rPr lang="en-IN" sz="2400" b="1" dirty="0"/>
              <a:t>46% of workflow Automation</a:t>
            </a:r>
            <a:endParaRPr lang="en-IN" sz="2400" b="1" dirty="0">
              <a:effectLst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738E6AD-5F9F-FE0A-46F0-FEC5C66DD2FF}"/>
              </a:ext>
            </a:extLst>
          </p:cNvPr>
          <p:cNvSpPr/>
          <p:nvPr/>
        </p:nvSpPr>
        <p:spPr>
          <a:xfrm rot="20362115">
            <a:off x="14774231" y="5846809"/>
            <a:ext cx="2106796" cy="2326804"/>
          </a:xfrm>
          <a:prstGeom prst="arc">
            <a:avLst/>
          </a:prstGeom>
          <a:ln w="38100">
            <a:solidFill>
              <a:srgbClr val="8D0000"/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639BC-630E-ABE9-A82F-BB1C6ECD861F}"/>
              </a:ext>
            </a:extLst>
          </p:cNvPr>
          <p:cNvSpPr txBox="1"/>
          <p:nvPr/>
        </p:nvSpPr>
        <p:spPr>
          <a:xfrm>
            <a:off x="15965249" y="6709708"/>
            <a:ext cx="26275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dirty="0">
                <a:effectLst/>
              </a:rPr>
              <a:t>Social Care and Counselling Gen AI Adoption Growth projected (2025) : </a:t>
            </a:r>
          </a:p>
          <a:p>
            <a:pPr>
              <a:buNone/>
            </a:pPr>
            <a:r>
              <a:rPr lang="en-IN" sz="2400" b="1" dirty="0"/>
              <a:t>8% of workflow Automation</a:t>
            </a:r>
            <a:endParaRPr lang="en-IN" sz="2400" b="1" dirty="0">
              <a:effectLst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D159C8-59BC-048D-28AB-D63621F329DC}"/>
              </a:ext>
            </a:extLst>
          </p:cNvPr>
          <p:cNvSpPr txBox="1"/>
          <p:nvPr/>
        </p:nvSpPr>
        <p:spPr>
          <a:xfrm>
            <a:off x="914400" y="2767689"/>
            <a:ext cx="5210995" cy="46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Human Essentials vs. Automated Tasks</a:t>
            </a:r>
            <a:endParaRPr lang="en-IN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1AF53-82AC-6CBF-DA04-FC28ADF13536}"/>
              </a:ext>
            </a:extLst>
          </p:cNvPr>
          <p:cNvSpPr txBox="1"/>
          <p:nvPr/>
        </p:nvSpPr>
        <p:spPr>
          <a:xfrm>
            <a:off x="887064" y="3434788"/>
            <a:ext cx="35317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1. Social Care &amp; </a:t>
            </a:r>
            <a:r>
              <a:rPr lang="en-IN" sz="2000" b="1" dirty="0" err="1"/>
              <a:t>Counseling</a:t>
            </a:r>
            <a:r>
              <a:rPr lang="en-IN" sz="2000" b="1" dirty="0"/>
              <a:t>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50CF63-2C8A-E5AC-39F6-9D0A556C4F53}"/>
              </a:ext>
            </a:extLst>
          </p:cNvPr>
          <p:cNvSpPr txBox="1"/>
          <p:nvPr/>
        </p:nvSpPr>
        <p:spPr>
          <a:xfrm>
            <a:off x="909900" y="3830109"/>
            <a:ext cx="69950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Human Essential: </a:t>
            </a:r>
            <a:r>
              <a:rPr lang="en-US" sz="2000" dirty="0"/>
              <a:t>Therapeutic Relationship Building, Crisis Intervention, Providing Emotional Support.</a:t>
            </a:r>
          </a:p>
          <a:p>
            <a:pPr algn="just"/>
            <a:r>
              <a:rPr lang="en-US" sz="2000" b="1" dirty="0"/>
              <a:t>Automated Tasks: </a:t>
            </a:r>
            <a:r>
              <a:rPr lang="en-US" sz="2000" dirty="0"/>
              <a:t>Scheduling Appointments, Managing Client Records, Basic Information Triage.</a:t>
            </a:r>
            <a:endParaRPr lang="en-IN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B28E8-3719-3782-05EC-30CCDFA8B3BD}"/>
              </a:ext>
            </a:extLst>
          </p:cNvPr>
          <p:cNvSpPr txBox="1"/>
          <p:nvPr/>
        </p:nvSpPr>
        <p:spPr>
          <a:xfrm>
            <a:off x="909900" y="5401390"/>
            <a:ext cx="32269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2. Personal Services: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3C0DCC-03A7-9440-6897-FBBC9F8D6398}"/>
              </a:ext>
            </a:extLst>
          </p:cNvPr>
          <p:cNvSpPr txBox="1"/>
          <p:nvPr/>
        </p:nvSpPr>
        <p:spPr>
          <a:xfrm>
            <a:off x="909900" y="5782390"/>
            <a:ext cx="69950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Human Essential:</a:t>
            </a:r>
            <a:r>
              <a:rPr lang="en-US" sz="2000" dirty="0"/>
              <a:t> </a:t>
            </a:r>
            <a:r>
              <a:rPr lang="en-US" sz="2000" b="1" dirty="0"/>
              <a:t>Core Service Delivery</a:t>
            </a:r>
            <a:r>
              <a:rPr lang="en-US" sz="2000" dirty="0"/>
              <a:t> (e.g., Caregiving, Hands-on Therapy), Personalized Client Adaptation.</a:t>
            </a:r>
          </a:p>
          <a:p>
            <a:pPr algn="just"/>
            <a:r>
              <a:rPr lang="en-US" sz="2000" b="1" dirty="0"/>
              <a:t>Automated Tasks:</a:t>
            </a:r>
            <a:r>
              <a:rPr lang="en-US" sz="2000" dirty="0"/>
              <a:t> Logistics, Route Optimization, Booking Management, Service Reminders.</a:t>
            </a:r>
            <a:endParaRPr lang="en-IN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B4EF0A-D753-96C4-838A-DEA7EACA79E9}"/>
              </a:ext>
            </a:extLst>
          </p:cNvPr>
          <p:cNvSpPr txBox="1"/>
          <p:nvPr/>
        </p:nvSpPr>
        <p:spPr>
          <a:xfrm>
            <a:off x="906481" y="7353507"/>
            <a:ext cx="39127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3. Human Resources Management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FDE2DC-3B63-EAC2-9DA5-67157A3F7D69}"/>
              </a:ext>
            </a:extLst>
          </p:cNvPr>
          <p:cNvSpPr txBox="1"/>
          <p:nvPr/>
        </p:nvSpPr>
        <p:spPr>
          <a:xfrm>
            <a:off x="889275" y="7782461"/>
            <a:ext cx="69950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/>
              <a:t>Human Essential:</a:t>
            </a:r>
            <a:r>
              <a:rPr lang="en-US" sz="2000" dirty="0"/>
              <a:t> </a:t>
            </a:r>
            <a:r>
              <a:rPr lang="en-US" sz="2000" b="1" dirty="0"/>
              <a:t>Final Candidate Selection</a:t>
            </a:r>
            <a:r>
              <a:rPr lang="en-US" sz="2000" dirty="0"/>
              <a:t>, Employee Relations/Mediation, Strategy, Setting Company Culture.</a:t>
            </a:r>
          </a:p>
          <a:p>
            <a:pPr algn="just"/>
            <a:r>
              <a:rPr lang="en-US" sz="2000" b="1" dirty="0"/>
              <a:t>Automated Tasks:</a:t>
            </a:r>
            <a:r>
              <a:rPr lang="en-US" sz="2000" dirty="0"/>
              <a:t> </a:t>
            </a:r>
            <a:r>
              <a:rPr lang="en-US" sz="2000" b="1" dirty="0"/>
              <a:t>Recruitment Screening</a:t>
            </a:r>
            <a:r>
              <a:rPr lang="en-US" sz="2000" dirty="0"/>
              <a:t> (resumes), Payroll, Benefits Administration, Workflow Automation.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8351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F858-D973-F31E-B9A6-0232EDC51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E0042ECA-B2C3-8134-994F-07A00F4E66FE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A0A546-149C-20C2-0D4A-6316E9B1DC1D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5B0238B-E713-AAAE-ACC1-513A42F1B3BE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graphicFrame>
        <p:nvGraphicFramePr>
          <p:cNvPr id="88" name="Diagram 87">
            <a:extLst>
              <a:ext uri="{FF2B5EF4-FFF2-40B4-BE49-F238E27FC236}">
                <a16:creationId xmlns:a16="http://schemas.microsoft.com/office/drawing/2014/main" id="{11E8B6E4-06D7-7048-2BC2-CA76745591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1173685"/>
              </p:ext>
            </p:extLst>
          </p:nvPr>
        </p:nvGraphicFramePr>
        <p:xfrm>
          <a:off x="685800" y="1943100"/>
          <a:ext cx="2590800" cy="769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89" name="TextBox 7">
            <a:extLst>
              <a:ext uri="{FF2B5EF4-FFF2-40B4-BE49-F238E27FC236}">
                <a16:creationId xmlns:a16="http://schemas.microsoft.com/office/drawing/2014/main" id="{81ED0F49-ADF5-B6F1-416C-2DF4E2D8C7D1}"/>
              </a:ext>
            </a:extLst>
          </p:cNvPr>
          <p:cNvSpPr txBox="1"/>
          <p:nvPr/>
        </p:nvSpPr>
        <p:spPr>
          <a:xfrm>
            <a:off x="1028699" y="1028700"/>
            <a:ext cx="1217458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/>
              <a:t>Mining and Basic Commodities Sector Overview</a:t>
            </a:r>
            <a:endParaRPr lang="en-IN" sz="4400" b="1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CE2D757-BBC4-3109-49ED-9237413D2F76}"/>
              </a:ext>
            </a:extLst>
          </p:cNvPr>
          <p:cNvSpPr/>
          <p:nvPr/>
        </p:nvSpPr>
        <p:spPr>
          <a:xfrm>
            <a:off x="3429000" y="1943100"/>
            <a:ext cx="13250412" cy="1159777"/>
          </a:xfrm>
          <a:prstGeom prst="rect">
            <a:avLst/>
          </a:pr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91F4489-75CA-7BAA-12E1-D0B616EED06F}"/>
              </a:ext>
            </a:extLst>
          </p:cNvPr>
          <p:cNvSpPr/>
          <p:nvPr/>
        </p:nvSpPr>
        <p:spPr>
          <a:xfrm>
            <a:off x="3429000" y="3238499"/>
            <a:ext cx="13250412" cy="1159777"/>
          </a:xfrm>
          <a:prstGeom prst="rect">
            <a:avLst/>
          </a:pr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3505D6C-9885-C8CE-76DE-E3D0D45A0BE0}"/>
              </a:ext>
            </a:extLst>
          </p:cNvPr>
          <p:cNvSpPr/>
          <p:nvPr/>
        </p:nvSpPr>
        <p:spPr>
          <a:xfrm>
            <a:off x="3426502" y="4571715"/>
            <a:ext cx="13250412" cy="1159777"/>
          </a:xfrm>
          <a:prstGeom prst="rect">
            <a:avLst/>
          </a:pr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4F9B88D-1423-8C31-E249-B5DE4E1A7F5E}"/>
              </a:ext>
            </a:extLst>
          </p:cNvPr>
          <p:cNvSpPr/>
          <p:nvPr/>
        </p:nvSpPr>
        <p:spPr>
          <a:xfrm>
            <a:off x="3426502" y="5904931"/>
            <a:ext cx="13250412" cy="1159777"/>
          </a:xfrm>
          <a:prstGeom prst="rect">
            <a:avLst/>
          </a:pr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C0CE743-E756-8539-997B-626FB098DE2F}"/>
              </a:ext>
            </a:extLst>
          </p:cNvPr>
          <p:cNvSpPr/>
          <p:nvPr/>
        </p:nvSpPr>
        <p:spPr>
          <a:xfrm>
            <a:off x="3426502" y="7190284"/>
            <a:ext cx="13250412" cy="1159777"/>
          </a:xfrm>
          <a:prstGeom prst="rect">
            <a:avLst/>
          </a:pr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C1B3CB4-B52E-F618-7A51-A00283DEC2F4}"/>
              </a:ext>
            </a:extLst>
          </p:cNvPr>
          <p:cNvSpPr/>
          <p:nvPr/>
        </p:nvSpPr>
        <p:spPr>
          <a:xfrm>
            <a:off x="3426502" y="8479522"/>
            <a:ext cx="13250412" cy="1159777"/>
          </a:xfrm>
          <a:prstGeom prst="rect">
            <a:avLst/>
          </a:pr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0E59EF1-F72C-E044-C288-361E1E01E32D}"/>
              </a:ext>
            </a:extLst>
          </p:cNvPr>
          <p:cNvSpPr txBox="1"/>
          <p:nvPr/>
        </p:nvSpPr>
        <p:spPr>
          <a:xfrm>
            <a:off x="3462727" y="2009722"/>
            <a:ext cx="110914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en-US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lobal revenues over </a:t>
            </a:r>
            <a:r>
              <a:rPr lang="en-US" sz="2400" b="1" i="0" u="none" strike="noStrike" dirty="0">
                <a:effectLst/>
              </a:rPr>
              <a:t>$1.96 trillion </a:t>
            </a:r>
            <a:r>
              <a:rPr lang="en-US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as per 2024, with a </a:t>
            </a:r>
            <a:r>
              <a:rPr lang="en-US" sz="2400" b="1" i="0" u="none" strike="noStrike" dirty="0">
                <a:effectLst/>
              </a:rPr>
              <a:t>CAGR of 4.6</a:t>
            </a:r>
            <a:r>
              <a:rPr lang="en-US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%.</a:t>
            </a:r>
            <a:br>
              <a:rPr lang="en-US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</a:br>
            <a:r>
              <a:rPr lang="en-US" sz="2000" b="1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O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verall GenAI penetration at 2–6% of sector activities, with Industry being defined as at it’s early stage of automation maturity .</a:t>
            </a:r>
            <a:endParaRPr lang="en-I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88083D3-7F63-176A-2B4D-C6E3691B22BB}"/>
              </a:ext>
            </a:extLst>
          </p:cNvPr>
          <p:cNvSpPr txBox="1"/>
          <p:nvPr/>
        </p:nvSpPr>
        <p:spPr>
          <a:xfrm>
            <a:off x="3462727" y="3299749"/>
            <a:ext cx="110914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Exploration/Resource Mapping: </a:t>
            </a:r>
            <a:br>
              <a:rPr lang="en-IN" sz="2000" b="1" dirty="0"/>
            </a:b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10-20% of programs adopt AI for geological modelling and remote sensing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4BB20E7-7568-BC18-DD21-6B63F24D36F3}"/>
              </a:ext>
            </a:extLst>
          </p:cNvPr>
          <p:cNvSpPr txBox="1"/>
          <p:nvPr/>
        </p:nvSpPr>
        <p:spPr>
          <a:xfrm>
            <a:off x="3462727" y="4635216"/>
            <a:ext cx="110914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Equipment Maintenance: </a:t>
            </a:r>
          </a:p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50-55% of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fixed assets covered by Predictive AI (Highest rate)</a:t>
            </a:r>
            <a:endParaRPr lang="en-I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CC66A18-B2A4-C5BE-E807-003247A67F03}"/>
              </a:ext>
            </a:extLst>
          </p:cNvPr>
          <p:cNvSpPr txBox="1"/>
          <p:nvPr/>
        </p:nvSpPr>
        <p:spPr>
          <a:xfrm>
            <a:off x="3462727" y="5949675"/>
            <a:ext cx="110914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Safety/Monitoring: </a:t>
            </a:r>
          </a:p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Up to 18% of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companies use AI for real-time compliance analytics</a:t>
            </a:r>
            <a:r>
              <a:rPr lang="en-US" sz="2000" b="1" dirty="0"/>
              <a:t>.</a:t>
            </a:r>
            <a:endParaRPr lang="en-IN" sz="20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BF718BF-5E75-E4B0-7817-1B9BBD05E022}"/>
              </a:ext>
            </a:extLst>
          </p:cNvPr>
          <p:cNvSpPr txBox="1"/>
          <p:nvPr/>
        </p:nvSpPr>
        <p:spPr>
          <a:xfrm>
            <a:off x="3463977" y="7254592"/>
            <a:ext cx="110914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Processing &amp; Extraction: </a:t>
            </a:r>
          </a:p>
          <a:p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Direct AI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use is under 4% globally, limited by variability </a:t>
            </a:r>
            <a:endParaRPr lang="en-I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E4A7787-45E3-2D6E-2A5B-83F45CA39AC2}"/>
              </a:ext>
            </a:extLst>
          </p:cNvPr>
          <p:cNvSpPr txBox="1"/>
          <p:nvPr/>
        </p:nvSpPr>
        <p:spPr>
          <a:xfrm>
            <a:off x="3478966" y="8539945"/>
            <a:ext cx="11091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Physical &amp; Geological: </a:t>
            </a:r>
            <a:r>
              <a:rPr lang="en-IN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Harsh environments, high capital , and site variability </a:t>
            </a:r>
          </a:p>
          <a:p>
            <a:r>
              <a:rPr lang="en-IN" sz="2400" b="1" dirty="0"/>
              <a:t>Safety &amp; Compliance: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Requires human judgment and adaptation ( no standardized automation ) </a:t>
            </a:r>
            <a:endParaRPr lang="en-I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2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45560C0-B71B-56C4-42F9-E211AD1CDF2D}"/>
              </a:ext>
            </a:extLst>
          </p:cNvPr>
          <p:cNvGrpSpPr/>
          <p:nvPr/>
        </p:nvGrpSpPr>
        <p:grpSpPr>
          <a:xfrm>
            <a:off x="9144000" y="0"/>
            <a:ext cx="9182487" cy="10287000"/>
            <a:chOff x="0" y="0"/>
            <a:chExt cx="241843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ED88A4F-F658-B9A1-820A-E31ECA4F69C3}"/>
                </a:ext>
              </a:extLst>
            </p:cNvPr>
            <p:cNvSpPr/>
            <p:nvPr/>
          </p:nvSpPr>
          <p:spPr>
            <a:xfrm>
              <a:off x="0" y="0"/>
              <a:ext cx="2418433" cy="2709333"/>
            </a:xfrm>
            <a:custGeom>
              <a:avLst/>
              <a:gdLst/>
              <a:ahLst/>
              <a:cxnLst/>
              <a:rect l="l" t="t" r="r" b="b"/>
              <a:pathLst>
                <a:path w="2418433" h="2709333">
                  <a:moveTo>
                    <a:pt x="0" y="0"/>
                  </a:moveTo>
                  <a:lnTo>
                    <a:pt x="2418433" y="0"/>
                  </a:lnTo>
                  <a:lnTo>
                    <a:pt x="24184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56296D5-545A-1FCF-AAFC-08B5F4388CF2}"/>
                </a:ext>
              </a:extLst>
            </p:cNvPr>
            <p:cNvSpPr txBox="1"/>
            <p:nvPr/>
          </p:nvSpPr>
          <p:spPr>
            <a:xfrm>
              <a:off x="0" y="-9525"/>
              <a:ext cx="2418433" cy="2718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6"/>
                </a:lnSpc>
              </a:pPr>
              <a:endParaRPr/>
            </a:p>
          </p:txBody>
        </p:sp>
      </p:grpSp>
      <p:sp>
        <p:nvSpPr>
          <p:cNvPr id="5" name="Freeform 6">
            <a:extLst>
              <a:ext uri="{FF2B5EF4-FFF2-40B4-BE49-F238E27FC236}">
                <a16:creationId xmlns:a16="http://schemas.microsoft.com/office/drawing/2014/main" id="{068FFCD3-A3A5-D2FE-1F51-8B1607FFD8DB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BEC57F-0947-B947-8A81-8D7BA96AB32E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8C11FC0-4818-D35A-DD7B-77CA47E6A5FB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1672" b="-21632"/>
              </a:stretch>
            </a:blipFill>
          </p:spPr>
        </p:sp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AD280E9-8457-51D2-DC32-338A7E0A8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1032613"/>
              </p:ext>
            </p:extLst>
          </p:nvPr>
        </p:nvGraphicFramePr>
        <p:xfrm>
          <a:off x="304800" y="2624435"/>
          <a:ext cx="92964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89FE67A-F925-3B03-59E4-7CF290FCB91E}"/>
              </a:ext>
            </a:extLst>
          </p:cNvPr>
          <p:cNvSpPr txBox="1"/>
          <p:nvPr/>
        </p:nvSpPr>
        <p:spPr>
          <a:xfrm>
            <a:off x="1916964" y="7882235"/>
            <a:ext cx="4776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PROJECTED ADOPTION OF AI</a:t>
            </a:r>
            <a:endParaRPr lang="en-IN" sz="2400" b="1" dirty="0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55A3A9F8-4FED-44FF-EEFE-4B9DCA303136}"/>
              </a:ext>
            </a:extLst>
          </p:cNvPr>
          <p:cNvSpPr txBox="1"/>
          <p:nvPr/>
        </p:nvSpPr>
        <p:spPr>
          <a:xfrm>
            <a:off x="1028700" y="1028700"/>
            <a:ext cx="116967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400" b="1" dirty="0"/>
              <a:t>Healthcare </a:t>
            </a:r>
            <a:r>
              <a:rPr lang="en-US" sz="4400" b="1" dirty="0"/>
              <a:t>Sector Overview </a:t>
            </a:r>
            <a:endParaRPr lang="en-IN" sz="4400" b="1" dirty="0"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F1596E5D-F4FB-A36E-75A0-DFD8E3F6308F}"/>
              </a:ext>
            </a:extLst>
          </p:cNvPr>
          <p:cNvSpPr txBox="1"/>
          <p:nvPr/>
        </p:nvSpPr>
        <p:spPr>
          <a:xfrm>
            <a:off x="12338253" y="1965075"/>
            <a:ext cx="2696716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SECTOR LANDSCAPE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89EBC0-A621-996D-2069-F05972B51139}"/>
              </a:ext>
            </a:extLst>
          </p:cNvPr>
          <p:cNvSpPr txBox="1"/>
          <p:nvPr/>
        </p:nvSpPr>
        <p:spPr>
          <a:xfrm>
            <a:off x="9979320" y="2742628"/>
            <a:ext cx="7511846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ctr"/>
            <a:r>
              <a:rPr lang="en-US" sz="2000" b="1" dirty="0"/>
              <a:t>$11+ Trillion </a:t>
            </a:r>
            <a:r>
              <a:rPr lang="en-US" sz="2000" dirty="0"/>
              <a:t>global sector which is said to be highly resilient to the GenAI penetration </a:t>
            </a:r>
          </a:p>
          <a:p>
            <a:pPr algn="just" fontAlgn="ctr"/>
            <a:endParaRPr lang="en-IN" sz="2000" dirty="0"/>
          </a:p>
          <a:p>
            <a:pPr algn="just" fontAlgn="ctr"/>
            <a:r>
              <a:rPr lang="en-US" sz="2000" b="1" dirty="0"/>
              <a:t>Why AI Penetration Stalls at the 20% Mark </a:t>
            </a:r>
          </a:p>
          <a:p>
            <a:pPr algn="just" fontAlgn="ctr"/>
            <a:endParaRPr lang="en-IN" sz="2000" dirty="0"/>
          </a:p>
          <a:p>
            <a:pPr algn="just" fontAlgn="ctr"/>
            <a:r>
              <a:rPr lang="en-US" sz="2000" dirty="0"/>
              <a:t>* </a:t>
            </a:r>
            <a:r>
              <a:rPr lang="en-US" sz="2000" b="1" dirty="0"/>
              <a:t>Focus on Administration</a:t>
            </a:r>
            <a:r>
              <a:rPr lang="en-US" sz="2000" dirty="0"/>
              <a:t>: AI excels in back-end tasks (supply chain, billing, scheduling) and documentation (e.g., ambient notes).</a:t>
            </a:r>
            <a:endParaRPr lang="en-IN" sz="2000" dirty="0"/>
          </a:p>
          <a:p>
            <a:pPr algn="just" fontAlgn="ctr"/>
            <a:endParaRPr lang="en-US" sz="2000" dirty="0"/>
          </a:p>
          <a:p>
            <a:pPr algn="just" fontAlgn="ctr"/>
            <a:r>
              <a:rPr lang="en-US" sz="2000" dirty="0"/>
              <a:t>* </a:t>
            </a:r>
            <a:r>
              <a:rPr lang="en-US" sz="2000" b="1" dirty="0"/>
              <a:t>Human Essentials Protected:</a:t>
            </a:r>
            <a:r>
              <a:rPr lang="en-US" sz="2000" dirty="0"/>
              <a:t> Core clinical processes require Empathy, Trust, and Intuition—factors AI cannot replicate.</a:t>
            </a:r>
            <a:endParaRPr lang="en-IN" sz="2000" dirty="0"/>
          </a:p>
          <a:p>
            <a:pPr algn="just" fontAlgn="ctr"/>
            <a:endParaRPr lang="en-US" sz="2000" dirty="0"/>
          </a:p>
          <a:p>
            <a:pPr algn="just" fontAlgn="ctr"/>
            <a:r>
              <a:rPr lang="en-US" sz="2000" dirty="0"/>
              <a:t>* </a:t>
            </a:r>
            <a:r>
              <a:rPr lang="en-US" sz="2000" b="1" dirty="0"/>
              <a:t>Regulatory Barrier:</a:t>
            </a:r>
            <a:r>
              <a:rPr lang="en-US" sz="2000" dirty="0"/>
              <a:t> Clinical Judgment and final diagnosis are heavily bound by safety standards and accreditation, mandating human sign-off.</a:t>
            </a:r>
            <a:endParaRPr lang="en-IN" sz="2000" dirty="0"/>
          </a:p>
          <a:p>
            <a:pPr algn="just" fontAlgn="ctr"/>
            <a:endParaRPr lang="en-US" sz="2000" b="1" dirty="0"/>
          </a:p>
          <a:p>
            <a:pPr algn="just" fontAlgn="ctr"/>
            <a:r>
              <a:rPr lang="en-US" sz="2000" b="1" dirty="0"/>
              <a:t>The AI Role:</a:t>
            </a:r>
            <a:r>
              <a:rPr lang="en-US" sz="2000" dirty="0"/>
              <a:t> Augmentation, not Replacement. AI is a powerful assistant that takes over repetitive tasks, freeing up clinicians for direct patient care.</a:t>
            </a:r>
            <a:endParaRPr lang="en-IN" sz="2000" dirty="0"/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151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9F9E-8D5E-D78B-2BFC-F14973F51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518AF850-5ED1-3980-FD03-562FA1608F9A}"/>
              </a:ext>
            </a:extLst>
          </p:cNvPr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8027BD-BEE0-4826-AB99-628076731AC5}"/>
              </a:ext>
            </a:extLst>
          </p:cNvPr>
          <p:cNvGrpSpPr/>
          <p:nvPr/>
        </p:nvGrpSpPr>
        <p:grpSpPr>
          <a:xfrm>
            <a:off x="0" y="10171793"/>
            <a:ext cx="18288000" cy="115207"/>
            <a:chOff x="0" y="0"/>
            <a:chExt cx="24384000" cy="15360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1EF39395-8FC0-A42C-7CC2-D0C4376A6CF2}"/>
                </a:ext>
              </a:extLst>
            </p:cNvPr>
            <p:cNvSpPr/>
            <p:nvPr/>
          </p:nvSpPr>
          <p:spPr>
            <a:xfrm>
              <a:off x="0" y="0"/>
              <a:ext cx="24384000" cy="153670"/>
            </a:xfrm>
            <a:custGeom>
              <a:avLst/>
              <a:gdLst/>
              <a:ahLst/>
              <a:cxnLst/>
              <a:rect l="l" t="t" r="r" b="b"/>
              <a:pathLst>
                <a:path w="24384000" h="153670">
                  <a:moveTo>
                    <a:pt x="0" y="0"/>
                  </a:moveTo>
                  <a:lnTo>
                    <a:pt x="24384000" y="0"/>
                  </a:lnTo>
                  <a:lnTo>
                    <a:pt x="24384000" y="153670"/>
                  </a:lnTo>
                  <a:lnTo>
                    <a:pt x="0" y="153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1672" b="-21632"/>
              </a:stretch>
            </a:blipFill>
          </p:spPr>
        </p:sp>
      </p:grp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C5AC41E-040D-366B-75D2-F737F077A615}"/>
              </a:ext>
            </a:extLst>
          </p:cNvPr>
          <p:cNvSpPr/>
          <p:nvPr/>
        </p:nvSpPr>
        <p:spPr>
          <a:xfrm rot="407238">
            <a:off x="6521892" y="2516572"/>
            <a:ext cx="5087030" cy="5010884"/>
          </a:xfrm>
          <a:custGeom>
            <a:avLst/>
            <a:gdLst>
              <a:gd name="connsiteX0" fmla="*/ 1298385 w 6965262"/>
              <a:gd name="connsiteY0" fmla="*/ 432476 h 6624985"/>
              <a:gd name="connsiteX1" fmla="*/ 2224352 w 6965262"/>
              <a:gd name="connsiteY1" fmla="*/ 254459 h 6624985"/>
              <a:gd name="connsiteX2" fmla="*/ 3389126 w 6965262"/>
              <a:gd name="connsiteY2" fmla="*/ 1737690 h 6624985"/>
              <a:gd name="connsiteX3" fmla="*/ 4342543 w 6965262"/>
              <a:gd name="connsiteY3" fmla="*/ 138148 h 6624985"/>
              <a:gd name="connsiteX4" fmla="*/ 5283670 w 6965262"/>
              <a:gd name="connsiteY4" fmla="*/ 196325 h 6624985"/>
              <a:gd name="connsiteX5" fmla="*/ 5782543 w 6965262"/>
              <a:gd name="connsiteY5" fmla="*/ 996469 h 6624985"/>
              <a:gd name="connsiteX6" fmla="*/ 5106894 w 6965262"/>
              <a:gd name="connsiteY6" fmla="*/ 2130001 h 6624985"/>
              <a:gd name="connsiteX7" fmla="*/ 6286728 w 6965262"/>
              <a:gd name="connsiteY7" fmla="*/ 1824041 h 6624985"/>
              <a:gd name="connsiteX8" fmla="*/ 6915191 w 6965262"/>
              <a:gd name="connsiteY8" fmla="*/ 2526991 h 6624985"/>
              <a:gd name="connsiteX9" fmla="*/ 6707539 w 6965262"/>
              <a:gd name="connsiteY9" fmla="*/ 3446766 h 6624985"/>
              <a:gd name="connsiteX10" fmla="*/ 5065623 w 6965262"/>
              <a:gd name="connsiteY10" fmla="*/ 3872554 h 6624985"/>
              <a:gd name="connsiteX11" fmla="*/ 6114741 w 6965262"/>
              <a:gd name="connsiteY11" fmla="*/ 5208508 h 6624985"/>
              <a:gd name="connsiteX12" fmla="*/ 5722256 w 6965262"/>
              <a:gd name="connsiteY12" fmla="*/ 6065865 h 6624985"/>
              <a:gd name="connsiteX13" fmla="*/ 4796289 w 6965262"/>
              <a:gd name="connsiteY13" fmla="*/ 6243882 h 6624985"/>
              <a:gd name="connsiteX14" fmla="*/ 3689936 w 6965262"/>
              <a:gd name="connsiteY14" fmla="*/ 4835046 h 6624985"/>
              <a:gd name="connsiteX15" fmla="*/ 2903280 w 6965262"/>
              <a:gd name="connsiteY15" fmla="*/ 6457074 h 6624985"/>
              <a:gd name="connsiteX16" fmla="*/ 1960632 w 6965262"/>
              <a:gd name="connsiteY16" fmla="*/ 6479905 h 6624985"/>
              <a:gd name="connsiteX17" fmla="*/ 1394911 w 6965262"/>
              <a:gd name="connsiteY17" fmla="*/ 5725540 h 6624985"/>
              <a:gd name="connsiteX18" fmla="*/ 2183335 w 6965262"/>
              <a:gd name="connsiteY18" fmla="*/ 4099870 h 6624985"/>
              <a:gd name="connsiteX19" fmla="*/ 431886 w 6965262"/>
              <a:gd name="connsiteY19" fmla="*/ 4099870 h 6624985"/>
              <a:gd name="connsiteX20" fmla="*/ 0 w 6965262"/>
              <a:gd name="connsiteY20" fmla="*/ 3261670 h 6624985"/>
              <a:gd name="connsiteX21" fmla="*/ 263739 w 6965262"/>
              <a:gd name="connsiteY21" fmla="*/ 2489350 h 6624985"/>
              <a:gd name="connsiteX22" fmla="*/ 431886 w 6965262"/>
              <a:gd name="connsiteY22" fmla="*/ 2423470 h 6624985"/>
              <a:gd name="connsiteX23" fmla="*/ 1796139 w 6965262"/>
              <a:gd name="connsiteY23" fmla="*/ 2423470 h 6624985"/>
              <a:gd name="connsiteX24" fmla="*/ 905899 w 6965262"/>
              <a:gd name="connsiteY24" fmla="*/ 1289833 h 6624985"/>
              <a:gd name="connsiteX25" fmla="*/ 1298385 w 6965262"/>
              <a:gd name="connsiteY25" fmla="*/ 432476 h 6624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965262" h="6624985">
                <a:moveTo>
                  <a:pt x="1298385" y="432476"/>
                </a:moveTo>
                <a:cubicBezTo>
                  <a:pt x="1662409" y="146610"/>
                  <a:pt x="2076980" y="66795"/>
                  <a:pt x="2224352" y="254459"/>
                </a:cubicBezTo>
                <a:lnTo>
                  <a:pt x="3389126" y="1737690"/>
                </a:lnTo>
                <a:lnTo>
                  <a:pt x="4342543" y="138148"/>
                </a:lnTo>
                <a:cubicBezTo>
                  <a:pt x="4464713" y="-66817"/>
                  <a:pt x="4886086" y="-40658"/>
                  <a:pt x="5283670" y="196325"/>
                </a:cubicBezTo>
                <a:cubicBezTo>
                  <a:pt x="5681254" y="433307"/>
                  <a:pt x="5904714" y="791504"/>
                  <a:pt x="5782543" y="996469"/>
                </a:cubicBezTo>
                <a:lnTo>
                  <a:pt x="5106894" y="2130001"/>
                </a:lnTo>
                <a:lnTo>
                  <a:pt x="6286728" y="1824041"/>
                </a:lnTo>
                <a:cubicBezTo>
                  <a:pt x="6517700" y="1764144"/>
                  <a:pt x="6799005" y="2078957"/>
                  <a:pt x="6915191" y="2526991"/>
                </a:cubicBezTo>
                <a:cubicBezTo>
                  <a:pt x="7031377" y="2975025"/>
                  <a:pt x="6938512" y="3386869"/>
                  <a:pt x="6707539" y="3446766"/>
                </a:cubicBezTo>
                <a:lnTo>
                  <a:pt x="5065623" y="3872554"/>
                </a:lnTo>
                <a:lnTo>
                  <a:pt x="6114741" y="5208508"/>
                </a:lnTo>
                <a:cubicBezTo>
                  <a:pt x="6262113" y="5396172"/>
                  <a:pt x="6086280" y="5779998"/>
                  <a:pt x="5722256" y="6065865"/>
                </a:cubicBezTo>
                <a:cubicBezTo>
                  <a:pt x="5358231" y="6351732"/>
                  <a:pt x="4943660" y="6431546"/>
                  <a:pt x="4796289" y="6243882"/>
                </a:cubicBezTo>
                <a:lnTo>
                  <a:pt x="3689936" y="4835046"/>
                </a:lnTo>
                <a:lnTo>
                  <a:pt x="2903280" y="6457074"/>
                </a:lnTo>
                <a:cubicBezTo>
                  <a:pt x="2799156" y="6671770"/>
                  <a:pt x="2377093" y="6681881"/>
                  <a:pt x="1960632" y="6479905"/>
                </a:cubicBezTo>
                <a:cubicBezTo>
                  <a:pt x="1544172" y="6277928"/>
                  <a:pt x="1290787" y="5940236"/>
                  <a:pt x="1394911" y="5725540"/>
                </a:cubicBezTo>
                <a:lnTo>
                  <a:pt x="2183335" y="4099870"/>
                </a:lnTo>
                <a:lnTo>
                  <a:pt x="431886" y="4099870"/>
                </a:lnTo>
                <a:cubicBezTo>
                  <a:pt x="193274" y="4099870"/>
                  <a:pt x="0" y="3724524"/>
                  <a:pt x="0" y="3261670"/>
                </a:cubicBezTo>
                <a:cubicBezTo>
                  <a:pt x="0" y="2914529"/>
                  <a:pt x="108717" y="2616612"/>
                  <a:pt x="263739" y="2489350"/>
                </a:cubicBezTo>
                <a:cubicBezTo>
                  <a:pt x="315414" y="2446929"/>
                  <a:pt x="372233" y="2423470"/>
                  <a:pt x="431886" y="2423470"/>
                </a:cubicBezTo>
                <a:lnTo>
                  <a:pt x="1796139" y="2423470"/>
                </a:lnTo>
                <a:lnTo>
                  <a:pt x="905899" y="1289833"/>
                </a:lnTo>
                <a:cubicBezTo>
                  <a:pt x="758528" y="1102169"/>
                  <a:pt x="934360" y="718343"/>
                  <a:pt x="1298385" y="432476"/>
                </a:cubicBezTo>
                <a:close/>
              </a:path>
            </a:pathLst>
          </a:custGeom>
          <a:noFill/>
          <a:ln>
            <a:solidFill>
              <a:srgbClr val="8D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6941309-6096-0EB4-A4F1-2A33B2B65FFF}"/>
              </a:ext>
            </a:extLst>
          </p:cNvPr>
          <p:cNvSpPr txBox="1"/>
          <p:nvPr/>
        </p:nvSpPr>
        <p:spPr>
          <a:xfrm>
            <a:off x="1028700" y="1028700"/>
            <a:ext cx="116967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400" b="1" dirty="0"/>
              <a:t>What makes these sectors resilient?</a:t>
            </a:r>
            <a:endParaRPr lang="en-IN" sz="4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33F5E1-DE3B-6C42-B5B1-C529B7738611}"/>
              </a:ext>
            </a:extLst>
          </p:cNvPr>
          <p:cNvSpPr txBox="1"/>
          <p:nvPr/>
        </p:nvSpPr>
        <p:spPr>
          <a:xfrm>
            <a:off x="914400" y="2699817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Physical Dexterity </a:t>
            </a:r>
            <a:r>
              <a:rPr lang="en-IN" sz="2400" b="1" dirty="0">
                <a:solidFill>
                  <a:srgbClr val="8D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Fine motor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On the spot adaptation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Unpredictable environment</a:t>
            </a:r>
            <a:endParaRPr 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76E75-17AB-98C0-4CBB-BEB489C2D20A}"/>
              </a:ext>
            </a:extLst>
          </p:cNvPr>
          <p:cNvSpPr txBox="1"/>
          <p:nvPr/>
        </p:nvSpPr>
        <p:spPr>
          <a:xfrm>
            <a:off x="914400" y="4391776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Authenticity Premium </a:t>
            </a:r>
            <a:r>
              <a:rPr lang="en-IN" sz="2400" b="1" dirty="0">
                <a:solidFill>
                  <a:srgbClr val="8D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Consumer preferences for ’human touch’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Artisanal Craftmanship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Sustains human-driven values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061D35-6B89-D5A9-40A9-E369594A0102}"/>
              </a:ext>
            </a:extLst>
          </p:cNvPr>
          <p:cNvSpPr txBox="1"/>
          <p:nvPr/>
        </p:nvSpPr>
        <p:spPr>
          <a:xfrm>
            <a:off x="914400" y="6083735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Local Value Chains</a:t>
            </a:r>
            <a:r>
              <a:rPr lang="en-IN" sz="2400" b="1" dirty="0">
                <a:solidFill>
                  <a:srgbClr val="8D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Geographic &amp; cultural diversity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Regulatory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Adaptive human expertise needed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88D765-22C5-23DB-E49D-B887061F776F}"/>
              </a:ext>
            </a:extLst>
          </p:cNvPr>
          <p:cNvSpPr txBox="1"/>
          <p:nvPr/>
        </p:nvSpPr>
        <p:spPr>
          <a:xfrm>
            <a:off x="12761495" y="2699817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Emotional Intelligence </a:t>
            </a:r>
            <a:r>
              <a:rPr lang="en-IN" sz="2400" b="1" dirty="0">
                <a:solidFill>
                  <a:srgbClr val="8D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Authentic empathy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Emotional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AI cannot replicate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2D84F0-A18D-D1EF-F24D-09DF703D1782}"/>
              </a:ext>
            </a:extLst>
          </p:cNvPr>
          <p:cNvSpPr txBox="1"/>
          <p:nvPr/>
        </p:nvSpPr>
        <p:spPr>
          <a:xfrm>
            <a:off x="12761495" y="4391776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Creativity &amp; Judgement</a:t>
            </a:r>
            <a:r>
              <a:rPr lang="en-IN" sz="2400" b="1" dirty="0">
                <a:solidFill>
                  <a:srgbClr val="8D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Originality &amp; creative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Ambiguous contexts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AI augments, not leads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557CB6-2671-DF43-DF68-8CDD7B2C00D6}"/>
              </a:ext>
            </a:extLst>
          </p:cNvPr>
          <p:cNvSpPr txBox="1"/>
          <p:nvPr/>
        </p:nvSpPr>
        <p:spPr>
          <a:xfrm>
            <a:off x="12725400" y="6083734"/>
            <a:ext cx="518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Regulatory Barriers</a:t>
            </a:r>
            <a:r>
              <a:rPr lang="en-IN" sz="2400" b="1" dirty="0">
                <a:solidFill>
                  <a:srgbClr val="8D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Strict compliance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Certified human oversight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Limits AI automation</a:t>
            </a:r>
            <a:endParaRPr lang="en-US" sz="2000" dirty="0"/>
          </a:p>
        </p:txBody>
      </p:sp>
      <p:pic>
        <p:nvPicPr>
          <p:cNvPr id="29" name="Graphic 28" descr="Smiling face with solid fill">
            <a:extLst>
              <a:ext uri="{FF2B5EF4-FFF2-40B4-BE49-F238E27FC236}">
                <a16:creationId xmlns:a16="http://schemas.microsoft.com/office/drawing/2014/main" id="{B706802D-BB62-755D-4493-527C80928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53600" y="2928417"/>
            <a:ext cx="914400" cy="914400"/>
          </a:xfrm>
          <a:prstGeom prst="rect">
            <a:avLst/>
          </a:prstGeom>
        </p:spPr>
      </p:pic>
      <p:pic>
        <p:nvPicPr>
          <p:cNvPr id="31" name="Graphic 30" descr="Construction worker">
            <a:extLst>
              <a:ext uri="{FF2B5EF4-FFF2-40B4-BE49-F238E27FC236}">
                <a16:creationId xmlns:a16="http://schemas.microsoft.com/office/drawing/2014/main" id="{F6C4CB75-55BE-3BBA-D468-6F594B3458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0" y="2863429"/>
            <a:ext cx="914400" cy="914400"/>
          </a:xfrm>
          <a:prstGeom prst="rect">
            <a:avLst/>
          </a:prstGeom>
        </p:spPr>
      </p:pic>
      <p:pic>
        <p:nvPicPr>
          <p:cNvPr id="33" name="Graphic 32" descr="Employee badge">
            <a:extLst>
              <a:ext uri="{FF2B5EF4-FFF2-40B4-BE49-F238E27FC236}">
                <a16:creationId xmlns:a16="http://schemas.microsoft.com/office/drawing/2014/main" id="{FAA77B4E-12AD-9DE7-7D41-701CF45B21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70295" y="4270034"/>
            <a:ext cx="914400" cy="914400"/>
          </a:xfrm>
          <a:prstGeom prst="rect">
            <a:avLst/>
          </a:prstGeom>
        </p:spPr>
      </p:pic>
      <p:pic>
        <p:nvPicPr>
          <p:cNvPr id="35" name="Graphic 34" descr="Marker">
            <a:extLst>
              <a:ext uri="{FF2B5EF4-FFF2-40B4-BE49-F238E27FC236}">
                <a16:creationId xmlns:a16="http://schemas.microsoft.com/office/drawing/2014/main" id="{DE67BD31-72E5-314B-E1AD-D37C8D4DEFB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43800" y="6281217"/>
            <a:ext cx="914400" cy="914400"/>
          </a:xfrm>
          <a:prstGeom prst="rect">
            <a:avLst/>
          </a:prstGeom>
        </p:spPr>
      </p:pic>
      <p:pic>
        <p:nvPicPr>
          <p:cNvPr id="37" name="Graphic 36" descr="Fence">
            <a:extLst>
              <a:ext uri="{FF2B5EF4-FFF2-40B4-BE49-F238E27FC236}">
                <a16:creationId xmlns:a16="http://schemas.microsoft.com/office/drawing/2014/main" id="{FB3D11A1-E725-00AB-38ED-33150CD108B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77400" y="6223816"/>
            <a:ext cx="914400" cy="914400"/>
          </a:xfrm>
          <a:prstGeom prst="rect">
            <a:avLst/>
          </a:prstGeom>
        </p:spPr>
      </p:pic>
      <p:pic>
        <p:nvPicPr>
          <p:cNvPr id="39" name="Graphic 38" descr="Gavel">
            <a:extLst>
              <a:ext uri="{FF2B5EF4-FFF2-40B4-BE49-F238E27FC236}">
                <a16:creationId xmlns:a16="http://schemas.microsoft.com/office/drawing/2014/main" id="{24640ACA-AEAD-77A7-6EFF-C24F60DCCBB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403307" y="4360011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AB1F171-5D50-96D2-1C54-AAEB3A440B1A}"/>
              </a:ext>
            </a:extLst>
          </p:cNvPr>
          <p:cNvSpPr txBox="1"/>
          <p:nvPr/>
        </p:nvSpPr>
        <p:spPr>
          <a:xfrm>
            <a:off x="8032309" y="4376217"/>
            <a:ext cx="2223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D0000"/>
                </a:solidFill>
              </a:rPr>
              <a:t>WHY THESE SECTORS RESIST DISRUPTION</a:t>
            </a:r>
            <a:endParaRPr lang="en-IN" sz="2400" b="1" dirty="0">
              <a:solidFill>
                <a:srgbClr val="8D0000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0BDB7B9-0E1A-B55F-367A-FB6DA58C29C0}"/>
              </a:ext>
            </a:extLst>
          </p:cNvPr>
          <p:cNvCxnSpPr/>
          <p:nvPr/>
        </p:nvCxnSpPr>
        <p:spPr>
          <a:xfrm>
            <a:off x="8305800" y="3777829"/>
            <a:ext cx="381000" cy="492205"/>
          </a:xfrm>
          <a:prstGeom prst="line">
            <a:avLst/>
          </a:prstGeom>
          <a:ln w="28575">
            <a:solidFill>
              <a:srgbClr val="8D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DD71CAD-2199-BE2A-A444-6A508D4717A0}"/>
              </a:ext>
            </a:extLst>
          </p:cNvPr>
          <p:cNvCxnSpPr>
            <a:cxnSpLocks/>
          </p:cNvCxnSpPr>
          <p:nvPr/>
        </p:nvCxnSpPr>
        <p:spPr>
          <a:xfrm flipH="1">
            <a:off x="9575587" y="3766617"/>
            <a:ext cx="406613" cy="522427"/>
          </a:xfrm>
          <a:prstGeom prst="line">
            <a:avLst/>
          </a:prstGeom>
          <a:ln w="28575">
            <a:solidFill>
              <a:srgbClr val="8D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1845FE-58E5-6563-728F-D1D810A14633}"/>
              </a:ext>
            </a:extLst>
          </p:cNvPr>
          <p:cNvCxnSpPr>
            <a:cxnSpLocks/>
          </p:cNvCxnSpPr>
          <p:nvPr/>
        </p:nvCxnSpPr>
        <p:spPr>
          <a:xfrm flipH="1">
            <a:off x="8321040" y="5629568"/>
            <a:ext cx="365760" cy="568655"/>
          </a:xfrm>
          <a:prstGeom prst="line">
            <a:avLst/>
          </a:prstGeom>
          <a:ln w="28575">
            <a:solidFill>
              <a:srgbClr val="8D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265DDBF-38F2-F83F-3E7C-BE81523A6417}"/>
              </a:ext>
            </a:extLst>
          </p:cNvPr>
          <p:cNvCxnSpPr>
            <a:cxnSpLocks/>
          </p:cNvCxnSpPr>
          <p:nvPr/>
        </p:nvCxnSpPr>
        <p:spPr>
          <a:xfrm>
            <a:off x="9505952" y="5631751"/>
            <a:ext cx="272941" cy="487375"/>
          </a:xfrm>
          <a:prstGeom prst="line">
            <a:avLst/>
          </a:prstGeom>
          <a:ln w="28575">
            <a:solidFill>
              <a:srgbClr val="8D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176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215205"/>
            <a:ext cx="8115300" cy="4259868"/>
            <a:chOff x="0" y="0"/>
            <a:chExt cx="2137363" cy="112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7363" cy="1121941"/>
            </a:xfrm>
            <a:custGeom>
              <a:avLst/>
              <a:gdLst/>
              <a:ahLst/>
              <a:cxnLst/>
              <a:rect l="l" t="t" r="r" b="b"/>
              <a:pathLst>
                <a:path w="2137363" h="1121941">
                  <a:moveTo>
                    <a:pt x="55331" y="0"/>
                  </a:moveTo>
                  <a:lnTo>
                    <a:pt x="2082031" y="0"/>
                  </a:lnTo>
                  <a:cubicBezTo>
                    <a:pt x="2096706" y="0"/>
                    <a:pt x="2110780" y="5830"/>
                    <a:pt x="2121157" y="16206"/>
                  </a:cubicBezTo>
                  <a:cubicBezTo>
                    <a:pt x="2131533" y="26583"/>
                    <a:pt x="2137363" y="40657"/>
                    <a:pt x="2137363" y="55331"/>
                  </a:cubicBezTo>
                  <a:lnTo>
                    <a:pt x="2137363" y="1066609"/>
                  </a:lnTo>
                  <a:cubicBezTo>
                    <a:pt x="2137363" y="1081284"/>
                    <a:pt x="2131533" y="1095358"/>
                    <a:pt x="2121157" y="1105734"/>
                  </a:cubicBezTo>
                  <a:cubicBezTo>
                    <a:pt x="2110780" y="1116111"/>
                    <a:pt x="2096706" y="1121941"/>
                    <a:pt x="2082031" y="1121941"/>
                  </a:cubicBezTo>
                  <a:lnTo>
                    <a:pt x="55331" y="1121941"/>
                  </a:lnTo>
                  <a:cubicBezTo>
                    <a:pt x="40657" y="1121941"/>
                    <a:pt x="26583" y="1116111"/>
                    <a:pt x="16206" y="1105734"/>
                  </a:cubicBezTo>
                  <a:cubicBezTo>
                    <a:pt x="5830" y="1095358"/>
                    <a:pt x="0" y="1081284"/>
                    <a:pt x="0" y="1066609"/>
                  </a:cubicBezTo>
                  <a:lnTo>
                    <a:pt x="0" y="55331"/>
                  </a:lnTo>
                  <a:cubicBezTo>
                    <a:pt x="0" y="40657"/>
                    <a:pt x="5830" y="26583"/>
                    <a:pt x="16206" y="16206"/>
                  </a:cubicBezTo>
                  <a:cubicBezTo>
                    <a:pt x="26583" y="5830"/>
                    <a:pt x="40657" y="0"/>
                    <a:pt x="55331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37363" cy="11790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465194" y="2613335"/>
            <a:ext cx="7527406" cy="3808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5901" lvl="1" algn="ctr">
              <a:lnSpc>
                <a:spcPts val="3000"/>
              </a:lnSpc>
            </a:pPr>
            <a:r>
              <a:rPr lang="en-US" sz="2400" b="1" dirty="0">
                <a:solidFill>
                  <a:schemeClr val="bg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The future of work is not a zero-sum game between humans and machines. It's a dynamic interplay where AI augments human potential, allowing us to focus on the unique capabilities that define us. By understanding and investing in these AI-resilient sectors, we can build a more robust, equitable, and human-centric economy for 2035 and beyond.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These sectors—Agriculture, Construction, Creative Industries, Personal Services, Mining, and Healthcare—will continue to be the bedrock of our economy, driven by an irreplaceable blend of ingenuity, empathy, and physical skill.</a:t>
            </a:r>
          </a:p>
          <a:p>
            <a:pPr marL="215901" lvl="1" algn="l">
              <a:lnSpc>
                <a:spcPts val="3000"/>
              </a:lnSpc>
            </a:pPr>
            <a:endParaRPr lang="en-US" sz="2000" dirty="0">
              <a:solidFill>
                <a:schemeClr val="bg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028700"/>
            <a:ext cx="1014611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ea typeface="Playfair Display"/>
                <a:cs typeface="Playfair Display"/>
                <a:sym typeface="Playfair Display"/>
              </a:rPr>
              <a:t>Strategic Recommendation</a:t>
            </a:r>
            <a:endParaRPr lang="en-US" sz="4400" b="1" u="none" strike="noStrike" dirty="0">
              <a:solidFill>
                <a:srgbClr val="000000"/>
              </a:solidFill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0" y="10171793"/>
            <a:ext cx="18288000" cy="115207"/>
          </a:xfrm>
          <a:custGeom>
            <a:avLst/>
            <a:gdLst/>
            <a:ahLst/>
            <a:cxnLst/>
            <a:rect l="l" t="t" r="r" b="b"/>
            <a:pathLst>
              <a:path w="18288000" h="115207">
                <a:moveTo>
                  <a:pt x="0" y="0"/>
                </a:moveTo>
                <a:lnTo>
                  <a:pt x="18288000" y="0"/>
                </a:lnTo>
                <a:lnTo>
                  <a:pt x="18288000" y="115207"/>
                </a:lnTo>
                <a:lnTo>
                  <a:pt x="0" y="115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5" t="-42107" r="-115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79412" y="188011"/>
            <a:ext cx="1159777" cy="1159777"/>
          </a:xfrm>
          <a:custGeom>
            <a:avLst/>
            <a:gdLst/>
            <a:ahLst/>
            <a:cxnLst/>
            <a:rect l="l" t="t" r="r" b="b"/>
            <a:pathLst>
              <a:path w="1159777" h="1159777">
                <a:moveTo>
                  <a:pt x="0" y="0"/>
                </a:moveTo>
                <a:lnTo>
                  <a:pt x="1159776" y="0"/>
                </a:lnTo>
                <a:lnTo>
                  <a:pt x="1159776" y="1159777"/>
                </a:lnTo>
                <a:lnTo>
                  <a:pt x="0" y="1159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314782"/>
            <a:ext cx="7308774" cy="517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8D0000"/>
                </a:solidFill>
              </a:rPr>
              <a:t>Invest in Human Capital</a:t>
            </a:r>
          </a:p>
          <a:p>
            <a:pPr algn="just"/>
            <a:r>
              <a:rPr lang="en-US" sz="2400" dirty="0"/>
              <a:t>Prioritize education and training in critical human skills: creativity, emotional intelligence, critical thinking, and complex problem-solving.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8D0000"/>
                </a:solidFill>
              </a:rPr>
              <a:t>Foster Hybrid Work Models</a:t>
            </a:r>
          </a:p>
          <a:p>
            <a:pPr algn="just"/>
            <a:r>
              <a:rPr lang="en-US" sz="2400" dirty="0"/>
              <a:t>Design workplaces that optimize collaboration between human experts and AI tools, enhancing productivity without replacing core human functions.</a:t>
            </a:r>
          </a:p>
          <a:p>
            <a:pPr algn="just"/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8D0000"/>
                </a:solidFill>
              </a:rPr>
              <a:t>Tailor Policy &amp; Regulation</a:t>
            </a:r>
          </a:p>
          <a:p>
            <a:pPr algn="just"/>
            <a:r>
              <a:rPr lang="en-US" sz="2400" dirty="0"/>
              <a:t>Develop policies that support job creation in resilient sectors, incentivize reskilling, and ensure ethical AI integration without stifling innovation.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100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1485129"/>
            <a:ext cx="1623060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5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625861"/>
            <a:ext cx="7873897" cy="2270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83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www.silverx.vc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83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algn="l">
              <a:lnSpc>
                <a:spcPts val="3600"/>
              </a:lnSpc>
            </a:pPr>
            <a:r>
              <a:rPr lang="en-US" sz="2400" spc="-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8th Floor, Sanali Spazio, </a:t>
            </a:r>
          </a:p>
          <a:p>
            <a:pPr algn="l">
              <a:lnSpc>
                <a:spcPts val="3600"/>
              </a:lnSpc>
            </a:pPr>
            <a:r>
              <a:rPr lang="en-US" sz="2400" spc="-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Plot No. 19, TSIIC Software Units Layout, </a:t>
            </a:r>
          </a:p>
          <a:p>
            <a:pPr algn="l">
              <a:lnSpc>
                <a:spcPts val="3600"/>
              </a:lnSpc>
            </a:pPr>
            <a:r>
              <a:rPr lang="en-US" sz="2400" spc="-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Hitech City, Hyderabad-500081, Telangana, India </a:t>
            </a:r>
          </a:p>
        </p:txBody>
      </p:sp>
      <p:sp>
        <p:nvSpPr>
          <p:cNvPr id="5" name="Freeform 5"/>
          <p:cNvSpPr/>
          <p:nvPr/>
        </p:nvSpPr>
        <p:spPr>
          <a:xfrm>
            <a:off x="1028700" y="6386104"/>
            <a:ext cx="2872196" cy="2872196"/>
          </a:xfrm>
          <a:custGeom>
            <a:avLst/>
            <a:gdLst/>
            <a:ahLst/>
            <a:cxnLst/>
            <a:rect l="l" t="t" r="r" b="b"/>
            <a:pathLst>
              <a:path w="2872196" h="2872196">
                <a:moveTo>
                  <a:pt x="0" y="0"/>
                </a:moveTo>
                <a:lnTo>
                  <a:pt x="2872196" y="0"/>
                </a:lnTo>
                <a:lnTo>
                  <a:pt x="2872196" y="2872196"/>
                </a:lnTo>
                <a:lnTo>
                  <a:pt x="0" y="2872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1116</Words>
  <Application>Microsoft Office PowerPoint</Application>
  <PresentationFormat>Custom</PresentationFormat>
  <Paragraphs>156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Wingdings</vt:lpstr>
      <vt:lpstr>Arial</vt:lpstr>
      <vt:lpstr>Calibri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SilverX Fund Template</dc:title>
  <dc:creator>DELL</dc:creator>
  <cp:lastModifiedBy>Megha Jain</cp:lastModifiedBy>
  <cp:revision>7</cp:revision>
  <dcterms:created xsi:type="dcterms:W3CDTF">2006-08-16T00:00:00Z</dcterms:created>
  <dcterms:modified xsi:type="dcterms:W3CDTF">2025-11-06T06:00:17Z</dcterms:modified>
  <dc:identifier>DAG3W3t5YGc</dc:identifier>
</cp:coreProperties>
</file>